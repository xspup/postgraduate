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48cbe8be6d4799" /><Relationship Type="http://schemas.openxmlformats.org/officeDocument/2006/relationships/extended-properties" Target="/docProps/app.xml" Id="Ree6dc4fafcfc4301" /><Relationship Type="http://schemas.openxmlformats.org/officeDocument/2006/relationships/officeDocument" Target="/ppt/presentation.xml" Id="R045a3d9b980b47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9310a2a2424fc6"/>
  </p:sldMasterIdLst>
  <p:notesMasterIdLst>
    <p:notesMasterId xmlns:r="http://schemas.openxmlformats.org/officeDocument/2006/relationships" r:id="R73d4351881a64028"/>
  </p:notesMasterIdLst>
  <p:sldIdLst>
    <p:sldId xmlns:r="http://schemas.openxmlformats.org/officeDocument/2006/relationships" id="256" r:id="Ra83616f9746e4f7e"/>
    <p:sldId xmlns:r="http://schemas.openxmlformats.org/officeDocument/2006/relationships" id="257" r:id="Ra63bd630ae804fde"/>
    <p:sldId xmlns:r="http://schemas.openxmlformats.org/officeDocument/2006/relationships" id="258" r:id="R0654c3387c944f88"/>
    <p:sldId xmlns:r="http://schemas.openxmlformats.org/officeDocument/2006/relationships" id="259" r:id="R0135d9e0f2094a0b"/>
    <p:sldId xmlns:r="http://schemas.openxmlformats.org/officeDocument/2006/relationships" id="260" r:id="R27b451ec4763426b"/>
    <p:sldId xmlns:r="http://schemas.openxmlformats.org/officeDocument/2006/relationships" id="261" r:id="R472795a9c1d54654"/>
    <p:sldId xmlns:r="http://schemas.openxmlformats.org/officeDocument/2006/relationships" id="262" r:id="R1885862890ba41a5"/>
    <p:sldId xmlns:r="http://schemas.openxmlformats.org/officeDocument/2006/relationships" id="263" r:id="R697d4051ed1240da"/>
    <p:sldId xmlns:r="http://schemas.openxmlformats.org/officeDocument/2006/relationships" id="264" r:id="R46d6e71f23b14cd4"/>
    <p:sldId xmlns:r="http://schemas.openxmlformats.org/officeDocument/2006/relationships" id="265" r:id="R3577ef4ab82b4da9"/>
    <p:sldId xmlns:r="http://schemas.openxmlformats.org/officeDocument/2006/relationships" id="266" r:id="R7f41c22bfc4f48f2"/>
    <p:sldId xmlns:r="http://schemas.openxmlformats.org/officeDocument/2006/relationships" id="267" r:id="R39a2c91bdd744e1b"/>
    <p:sldId xmlns:r="http://schemas.openxmlformats.org/officeDocument/2006/relationships" id="268" r:id="R7fd56bddd6244929"/>
    <p:sldId xmlns:r="http://schemas.openxmlformats.org/officeDocument/2006/relationships" id="269" r:id="R948f0d89d0bf41f5"/>
    <p:sldId xmlns:r="http://schemas.openxmlformats.org/officeDocument/2006/relationships" id="270" r:id="R141ce25cc6b64a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212676725940fb" /><Relationship Type="http://schemas.openxmlformats.org/officeDocument/2006/relationships/slideMaster" Target="/ppt/slideMasters/slideMaster1.xml" Id="R949310a2a2424fc6" /><Relationship Type="http://schemas.openxmlformats.org/officeDocument/2006/relationships/notesMaster" Target="/ppt/notesMasters/notesMaster1.xml" Id="R73d4351881a64028" /><Relationship Type="http://schemas.openxmlformats.org/officeDocument/2006/relationships/presProps" Target="/ppt/presProps.xml" Id="Rfc9f6d30176e42f0" /><Relationship Type="http://schemas.openxmlformats.org/officeDocument/2006/relationships/viewProps" Target="/ppt/viewProps.xml" Id="R3d1647f55a334091" /><Relationship Type="http://schemas.openxmlformats.org/officeDocument/2006/relationships/tableStyles" Target="/ppt/tableStyles.xml" Id="R9f02d2a55cd6419d" /><Relationship Type="http://schemas.openxmlformats.org/officeDocument/2006/relationships/slide" Target="/ppt/slides/slide1.xml" Id="Ra83616f9746e4f7e" /><Relationship Type="http://schemas.openxmlformats.org/officeDocument/2006/relationships/slide" Target="/ppt/slides/slide2.xml" Id="Ra63bd630ae804fde" /><Relationship Type="http://schemas.openxmlformats.org/officeDocument/2006/relationships/slide" Target="/ppt/slides/slide3.xml" Id="R0654c3387c944f88" /><Relationship Type="http://schemas.openxmlformats.org/officeDocument/2006/relationships/slide" Target="/ppt/slides/slide4.xml" Id="R0135d9e0f2094a0b" /><Relationship Type="http://schemas.openxmlformats.org/officeDocument/2006/relationships/slide" Target="/ppt/slides/slide5.xml" Id="R27b451ec4763426b" /><Relationship Type="http://schemas.openxmlformats.org/officeDocument/2006/relationships/slide" Target="/ppt/slides/slide6.xml" Id="R472795a9c1d54654" /><Relationship Type="http://schemas.openxmlformats.org/officeDocument/2006/relationships/slide" Target="/ppt/slides/slide7.xml" Id="R1885862890ba41a5" /><Relationship Type="http://schemas.openxmlformats.org/officeDocument/2006/relationships/slide" Target="/ppt/slides/slide8.xml" Id="R697d4051ed1240da" /><Relationship Type="http://schemas.openxmlformats.org/officeDocument/2006/relationships/slide" Target="/ppt/slides/slide9.xml" Id="R46d6e71f23b14cd4" /><Relationship Type="http://schemas.openxmlformats.org/officeDocument/2006/relationships/slide" Target="/ppt/slides/slide10.xml" Id="R3577ef4ab82b4da9" /><Relationship Type="http://schemas.openxmlformats.org/officeDocument/2006/relationships/slide" Target="/ppt/slides/slide11.xml" Id="R7f41c22bfc4f48f2" /><Relationship Type="http://schemas.openxmlformats.org/officeDocument/2006/relationships/slide" Target="/ppt/slides/slide12.xml" Id="R39a2c91bdd744e1b" /><Relationship Type="http://schemas.openxmlformats.org/officeDocument/2006/relationships/slide" Target="/ppt/slides/slide13.xml" Id="R7fd56bddd6244929" /><Relationship Type="http://schemas.openxmlformats.org/officeDocument/2006/relationships/slide" Target="/ppt/slides/slide14.xml" Id="R948f0d89d0bf41f5" /><Relationship Type="http://schemas.openxmlformats.org/officeDocument/2006/relationships/slide" Target="/ppt/slides/slide15.xml" Id="R141ce25cc6b64a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a351b534b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9c046ad894e68" /><Relationship Type="http://schemas.openxmlformats.org/officeDocument/2006/relationships/notesMaster" Target="/ppt/notesMasters/notesMaster1.xml" Id="Rae371b69e408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a40b3217f4488" /><Relationship Type="http://schemas.openxmlformats.org/officeDocument/2006/relationships/notesMaster" Target="/ppt/notesMasters/notesMaster1.xml" Id="Re2eb4079fa18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cdbfca48f449f" /><Relationship Type="http://schemas.openxmlformats.org/officeDocument/2006/relationships/notesMaster" Target="/ppt/notesMasters/notesMaster1.xml" Id="Rb77d5b2d65c6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4e2f3ef47c4b24" /><Relationship Type="http://schemas.openxmlformats.org/officeDocument/2006/relationships/notesMaster" Target="/ppt/notesMasters/notesMaster1.xml" Id="Rf154878d08394c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ebf551a3514007" /><Relationship Type="http://schemas.openxmlformats.org/officeDocument/2006/relationships/notesMaster" Target="/ppt/notesMasters/notesMaster1.xml" Id="Rbe9267f3f6234b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bd212a02be4871" /><Relationship Type="http://schemas.openxmlformats.org/officeDocument/2006/relationships/notesMaster" Target="/ppt/notesMasters/notesMaster1.xml" Id="Rce514953e491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e3d1e248d6476f" /><Relationship Type="http://schemas.openxmlformats.org/officeDocument/2006/relationships/notesMaster" Target="/ppt/notesMasters/notesMaster1.xml" Id="R0ab8bfcf683244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f478bf0eaf404a" /><Relationship Type="http://schemas.openxmlformats.org/officeDocument/2006/relationships/notesMaster" Target="/ppt/notesMasters/notesMaster1.xml" Id="R63d594c2cd7246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a06648bcbc477b" /><Relationship Type="http://schemas.openxmlformats.org/officeDocument/2006/relationships/notesMaster" Target="/ppt/notesMasters/notesMaster1.xml" Id="R0f88901affc14c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28875275f44158" /><Relationship Type="http://schemas.openxmlformats.org/officeDocument/2006/relationships/notesMaster" Target="/ppt/notesMasters/notesMaster1.xml" Id="Rcf1559a2a85b49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369631265341c2" /><Relationship Type="http://schemas.openxmlformats.org/officeDocument/2006/relationships/notesMaster" Target="/ppt/notesMasters/notesMaster1.xml" Id="R2e69dea3a5c946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bdbc39a0664c4d" /><Relationship Type="http://schemas.openxmlformats.org/officeDocument/2006/relationships/notesMaster" Target="/ppt/notesMasters/notesMaster1.xml" Id="Rc31f5158e4ed4d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d4cc95c7f34d9c" /><Relationship Type="http://schemas.openxmlformats.org/officeDocument/2006/relationships/notesMaster" Target="/ppt/notesMasters/notesMaster1.xml" Id="R2fd408d132124b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3450eb6e344f43" /><Relationship Type="http://schemas.openxmlformats.org/officeDocument/2006/relationships/notesMaster" Target="/ppt/notesMasters/notesMaster1.xml" Id="R0e17cd24a30c4b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fd3be297f046f0" /><Relationship Type="http://schemas.openxmlformats.org/officeDocument/2006/relationships/notesMaster" Target="/ppt/notesMasters/notesMaster1.xml" Id="Rb9a1d19d9b13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建议用时：20秒。</a:t>
            </a:r>
          </a:p>
          <a:p xmlns:a="http://schemas.openxmlformats.org/drawingml/2006/main">
            <a:r>
              <a:t>开场只讲一句：本次汇报不把目标设为‘把SGLang搬到手机’，而是判断HiCache的控制思想能否变成端侧可验证的研究问题。</a:t>
            </a:r>
          </a:p>
          <a:p xmlns:a="http://schemas.openxmlformats.org/drawingml/2006/main">
            <a:r>
              <a:t>主线：问题来源 → HiCache机制 → 移植边界 → 提出EAHS调度 → 验证路径。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https://docs.sglang.io/docs/advanced_features/hicache_design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</a:t>
            </a:r>
            <a:endParaRPr/>
          </a:p>
          <a:p xmlns:a="http://schemas.openxmlformats.org/drawingml/2006/main">
            <a:r>
              <a:t>先给结论，避免听众在前半段不知道你要做什么。</a:t>
            </a:r>
            <a:endParaRPr/>
          </a:p>
          <a:p xmlns:a="http://schemas.openxmlformats.org/drawingml/2006/main">
            <a:r>
              <a:t>场景限定在存在前缀复用的端侧工作负载：多轮会话、固定系统提示、端侧RAG或Agent。没有复用时，多级前缀缓存没有收益。</a:t>
            </a:r>
            <a:endParaRPr/>
          </a:p>
          <a:p xmlns:a="http://schemas.openxmlformats.org/drawingml/2006/main">
            <a:r>
              <a:t>这里的‘端侧层次’首先是逻辑层次；在统一内存SoC上，L1/L2可能共享同一片LPDDR，但访问路径、格式和可用容量仍可不同。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https://www.usenix.org/conference/fast25/presentation/qin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建议用时：75秒。</a:t>
            </a:r>
            <a:endParaRPr/>
          </a:p>
          <a:p xmlns:a="http://schemas.openxmlformats.org/drawingml/2006/main">
            <a:r>
              <a:t>公式推导：每层为每个token保存K和V，因此有系数2；每份张量大小是H_kv×d_h×b；再乘层数L。</a:t>
            </a:r>
            <a:endParaRPr/>
          </a:p>
          <a:p xmlns:a="http://schemas.openxmlformats.org/drawingml/2006/main">
            <a:r>
              <a:t>例子：2×32×8×128×2=131072字节=128KiB/token；8192 token正好约1GiB，32768约4GiB，131072约16GiB。</a:t>
            </a:r>
            <a:endParaRPr/>
          </a:p>
          <a:p xmlns:a="http://schemas.openxmlformats.org/drawingml/2006/main">
            <a:r>
              <a:t>注意：不同模型、KV精度、滑窗注意力和MLA会改变系数；汇报中要说‘量级示例’，不要说所有7B模型都一样。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https://ai.meta.com/blog/meta-llama-3/</a:t>
            </a:r>
            <a:endParaRPr/>
          </a:p>
          <a:p xmlns:a="http://schemas.openxmlformats.org/drawingml/2006/main">
            <a:r>
              <a:t>- https://github.com/meta-llama/llama3/blob/main/llama/model.py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</a:t>
            </a:r>
            <a:endParaRPr/>
          </a:p>
          <a:p xmlns:a="http://schemas.openxmlformats.org/drawingml/2006/main">
            <a:r>
              <a:t>严格说，带缓存的后缀仍要让每个新query访问全部历史key；它省掉的是前缀query对应的所有计算。</a:t>
            </a:r>
            <a:endParaRPr/>
          </a:p>
          <a:p xmlns:a="http://schemas.openxmlformats.org/drawingml/2006/main">
            <a:r>
              <a:t>因果注意力中，无缓存需要N(N+1)/2个query-key对；缓存前缀k后，只计算t=k+1..N对应的对，差值正好是k(k+1)/2。</a:t>
            </a:r>
            <a:endParaRPr/>
          </a:p>
          <a:p xmlns:a="http://schemas.openxmlformats.org/drawingml/2006/main">
            <a:r>
              <a:t>这解释了为什么长共享前缀特别适合缓存，也解释了为什么只允许连续前缀命中。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https://arxiv.org/abs/2312.07104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建议用时：70秒。</a:t>
            </a:r>
            <a:endParaRPr/>
          </a:p>
          <a:p xmlns:a="http://schemas.openxmlformats.org/drawingml/2006/main">
            <a:r>
              <a:t>HiRadixTree每个节点对应连续token span，并记录KV位于L1、L2还是多级同时存在；L3不在本地树中维护精确位置，而是在访问时查询。</a:t>
            </a:r>
            <a:endParaRPr/>
          </a:p>
          <a:p xmlns:a="http://schemas.openxmlformats.org/drawingml/2006/main">
            <a:r>
              <a:t>HiCache不只是把KV放到CPU：它还统一了外部存储接口，使历史KV能在实例之间复用。</a:t>
            </a:r>
            <a:endParaRPr/>
          </a:p>
          <a:p xmlns:a="http://schemas.openxmlformats.org/drawingml/2006/main">
            <a:r>
              <a:t>这页只讲总体流程，下一页再展开调度细节。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https://www.usenix.org/conference/fast25/presentation/qin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建议用时：80秒。</a:t>
            </a:r>
            <a:endParaRPr/>
          </a:p>
          <a:p xmlns:a="http://schemas.openxmlformats.org/drawingml/2006/main">
            <a:r>
              <a:t>预取部分要明确：256 token是官方文档给出的默认触发阈值，不是理论最优值。timeout默认由固定开销、每千token增量和上限构成。</a:t>
            </a:r>
            <a:endParaRPr/>
          </a:p>
          <a:p xmlns:a="http://schemas.openxmlformats.org/drawingml/2006/main">
            <a:r>
              <a:t>写策略是典型缓存策略：write-through收益稳但I/O大；selective只备份热数据；write-back降低写压力但可能失去跨请求复用机会。</a:t>
            </a:r>
            <a:endParaRPr/>
          </a:p>
          <a:p xmlns:a="http://schemas.openxmlformats.org/drawingml/2006/main">
            <a:r>
              <a:t>源码层面，HiCache启动独立prefetch和backup线程，GPU↔CPU使用独立load/write stream；写队列会合并操作，加载按层执行。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https://docs.sglang.io/docs/advanced_features/hicache_best_practices</a:t>
            </a:r>
            <a:endParaRPr/>
          </a:p>
          <a:p xmlns:a="http://schemas.openxmlformats.org/drawingml/2006/main">
            <a:r>
              <a:t>- https://github.com/sgl-project/sglang/blob/main/python/sglang/srt/managers/cache_controller.py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</a:t>
            </a:r>
            <a:endParaRPr/>
          </a:p>
          <a:p xmlns:a="http://schemas.openxmlformats.org/drawingml/2006/main">
            <a:r>
              <a:t>这一页回答‘能不能移植’。答案不是简单的能/不能，而是分层判断。</a:t>
            </a:r>
            <a:endParaRPr/>
          </a:p>
          <a:p xmlns:a="http://schemas.openxmlformats.org/drawingml/2006/main">
            <a:r>
              <a:t>最可复用的是控制面：前缀索引、页粒度、异步操作、存储接口。最不可复用的是数据面：CUDA核、GPU/CPU拷贝布局、RDMA、TP同步。</a:t>
            </a:r>
            <a:endParaRPr/>
          </a:p>
          <a:p xmlns:a="http://schemas.openxmlformats.org/drawingml/2006/main">
            <a:r>
              <a:t>如果目标平台是Ascend/Android NPU，应把HiCache看作参考设计，运行时挂钩点需要重新寻找。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https://github.com/sgl-project/sglang/blob/main/python/sglang/srt/managers/cache_controller.py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建议用时：70秒。</a:t>
            </a:r>
            <a:endParaRPr/>
          </a:p>
          <a:p xmlns:a="http://schemas.openxmlformats.org/drawingml/2006/main">
            <a:r>
              <a:t>统一内存不等于没有层次：加速器直接可见KV、CPU可管理压缩KV、文件系统持久KV仍可能是不同层。</a:t>
            </a:r>
            <a:endParaRPr/>
          </a:p>
          <a:p xmlns:a="http://schemas.openxmlformats.org/drawingml/2006/main">
            <a:r>
              <a:t>端侧最关键的新增干扰是共享带宽和功耗预算。decode高度依赖内存带宽，因此并行I/O可能增加ITL。</a:t>
            </a:r>
            <a:endParaRPr/>
          </a:p>
          <a:p xmlns:a="http://schemas.openxmlformats.org/drawingml/2006/main">
            <a:r>
              <a:t>闪存写放大是端侧异步写回必须显式考虑的成本，尤其不能默认每次访问都write-through。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https://arxiv.org/abs/2508.13231</a:t>
            </a:r>
            <a:endParaRPr/>
          </a:p>
          <a:p xmlns:a="http://schemas.openxmlformats.org/drawingml/2006/main">
            <a:r>
              <a:t>- https://proceedings.mlsys.org/paper_files/paper/2025/hash/698cfaf72a208aef2e78bcac55b74328-Abstract-Conference.html</a:t>
            </a:r>
            <a:endParaRPr/>
          </a:p>
          <a:p xmlns:a="http://schemas.openxmlformats.org/drawingml/2006/main">
            <a:r>
              <a:t>- https://arxiv.org/abs/2604.21231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</a:t>
            </a:r>
            <a:endParaRPr/>
          </a:p>
          <a:p xmlns:a="http://schemas.openxmlformats.org/drawingml/2006/main">
            <a:r>
              <a:t>这页一定要诚实：2026年已经出现SparKV和Bidaw，不能把‘端侧KV加载’或‘两级KV缓存’本身当创新。</a:t>
            </a:r>
            <a:endParaRPr/>
          </a:p>
          <a:p xmlns:a="http://schemas.openxmlformats.org/drawingml/2006/main">
            <a:r>
              <a:t>可收敛的差异是：离线也可工作的本地持久前缀、统一内存上的读写干扰、把flash写放大和热状态纳入控制、同时调度read和write两条队列。</a:t>
            </a:r>
            <a:endParaRPr/>
          </a:p>
          <a:p xmlns:a="http://schemas.openxmlformats.org/drawingml/2006/main">
            <a:r>
              <a:t>KIVI可以作为正交增强：先减少page字节，再由调度器决定何时搬运；不要把量化和调度混成同一个贡献。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https://arxiv.org/abs/2604.21231</a:t>
            </a:r>
            <a:endParaRPr/>
          </a:p>
          <a:p xmlns:a="http://schemas.openxmlformats.org/drawingml/2006/main">
            <a:r>
              <a:t>- https://www.usenix.org/conference/fast26/presentation/hu-shipeng</a:t>
            </a:r>
            <a:endParaRPr/>
          </a:p>
          <a:p xmlns:a="http://schemas.openxmlformats.org/drawingml/2006/main">
            <a:r>
              <a:t>- https://proceedings.mlsys.org/paper_files/paper/2025/hash/66a026c0d17040889b50f0dfa650e5e0-Abstract-Conference.html</a:t>
            </a:r>
            <a:endParaRPr/>
          </a:p>
          <a:p xmlns:a="http://schemas.openxmlformats.org/drawingml/2006/main">
            <a:r>
              <a:t>- https://proceedings.mlsys.org/paper_files/paper/2025/hash/698cfaf72a208aef2e78bcac55b74328-Abstract-Conference.html</a:t>
            </a:r>
            <a:endParaRPr/>
          </a:p>
          <a:p xmlns:a="http://schemas.openxmlformats.org/drawingml/2006/main">
            <a:r>
              <a:t>- https://arxiv.org/abs/2402.02750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</a:t>
            </a:r>
            <a:endParaRPr/>
          </a:p>
          <a:p xmlns:a="http://schemas.openxmlformats.org/drawingml/2006/main">
            <a:r>
              <a:t>体系结构拆成数据面和控制面。数据面负责三层page存储与搬运；控制面只根据观测做决策，便于替换底层运行时。</a:t>
            </a:r>
            <a:endParaRPr/>
          </a:p>
          <a:p xmlns:a="http://schemas.openxmlformats.org/drawingml/2006/main">
            <a:r>
              <a:t>L2是否量化先不作为前提。第一版用精确KV，保证输出等价；如果I/O仍然过大，再接KIVI类量化。</a:t>
            </a:r>
            <a:endParaRPr/>
          </a:p>
          <a:p xmlns:a="http://schemas.openxmlformats.org/drawingml/2006/main">
            <a:r>
              <a:t>EAHS必须可抢占：foreground decode开始时，应能暂停或取消低收益预取与写回。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https://arxiv.org/abs/2402.02750</a:t>
            </a:r>
            <a:endParaRPr/>
          </a:p>
          <a:p xmlns:a="http://schemas.openxmlformats.org/drawingml/2006/main">
            <a:r>
              <a:t>- https://arxiv.org/abs/2604.21231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建议用时：85秒。</a:t>
            </a:r>
            <a:endParaRPr/>
          </a:p>
          <a:p xmlns:a="http://schemas.openxmlformats.org/drawingml/2006/main">
            <a:r>
              <a:t>C_i不是常数：前缀越长，避免的线性投影/MLP和二次注意力项越多；应由microbenchmark拟合，而不是手写常数。</a:t>
            </a:r>
            <a:endParaRPr/>
          </a:p>
          <a:p xmlns:a="http://schemas.openxmlformats.org/drawingml/2006/main">
            <a:r>
              <a:t>p_i由会话内复用、前缀类别、访问间隔和热度估计；R_i由当前层、page大小、队列和带宽在线估计。</a:t>
            </a:r>
            <a:endParaRPr/>
          </a:p>
          <a:p xmlns:a="http://schemas.openxmlformats.org/drawingml/2006/main">
            <a:r>
              <a:t>I_i是端侧新增核心项，可通过decode ITL对并发I/O带宽的敏感曲线估计。</a:t>
            </a:r>
            <a:endParaRPr/>
          </a:p>
          <a:p xmlns:a="http://schemas.openxmlformats.org/drawingml/2006/main">
            <a:r>
              <a:t>写收益考虑未来复用与flash成本，使write-through/selective/write-back变成同一效用函数下的特例。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https://arxiv.org/abs/2508.13231</a:t>
            </a:r>
            <a:endParaRPr/>
          </a:p>
          <a:p xmlns:a="http://schemas.openxmlformats.org/drawingml/2006/main">
            <a:r>
              <a:t>- https://www.usenix.org/conference/atc25/presentation/wang-jiahao</a:t>
            </a:r>
            <a:endParaRPr/>
          </a:p>
          <a:p xmlns:a="http://schemas.openxmlformats.org/drawingml/2006/main">
            <a:r>
              <a:t>- https://www.usenix.org/conference/fast26/presentation/hu-shipeng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建议用时：80秒。</a:t>
            </a:r>
            <a:endParaRPr/>
          </a:p>
          <a:p xmlns:a="http://schemas.openxmlformats.org/drawingml/2006/main">
            <a:r>
              <a:t>候选必须保持连续前缀依赖：后面的page有价值，前提是前面的page已命中或也被选中。第一版可按前缀顺序扫描，遇到负效用即停止。</a:t>
            </a:r>
            <a:endParaRPr/>
          </a:p>
          <a:p xmlns:a="http://schemas.openxmlformats.org/drawingml/2006/main">
            <a:r>
              <a:t>读队列使用价值密度和slack共同排序，类似value-aware EDF；写队列不与读队列平权，foreground read和decode可以抢占write。</a:t>
            </a:r>
            <a:endParaRPr/>
          </a:p>
          <a:p xmlns:a="http://schemas.openxmlformats.org/drawingml/2006/main">
            <a:r>
              <a:t>p_i可先用简单EWMA：会话内次数、最近访问间隔、前缀类别。不要第一版就上强化学习，先建立可解释基线。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https://arxiv.org/abs/2604.21231</a:t>
            </a:r>
            <a:endParaRPr/>
          </a:p>
          <a:p xmlns:a="http://schemas.openxmlformats.org/drawingml/2006/main">
            <a:r>
              <a:t>- https://www.usenix.org/conference/fast26/presentation/hu-shipeng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</a:t>
            </a:r>
            <a:endParaRPr/>
          </a:p>
          <a:p xmlns:a="http://schemas.openxmlformats.org/drawingml/2006/main">
            <a:r>
              <a:t>明确强调所有数值是假设，只用来说明break-even逻辑。8MiB/page来自上一页公式：64×128KiB。</a:t>
            </a:r>
            <a:endParaRPr/>
          </a:p>
          <a:p xmlns:a="http://schemas.openxmlformats.org/drawingml/2006/main">
            <a:r>
              <a:t>如果C大于R且没有显著干扰，读是正收益；如果共享总线拥塞使R上升，就应取消，而不是wait_complete。</a:t>
            </a:r>
            <a:endParaRPr/>
          </a:p>
          <a:p xmlns:a="http://schemas.openxmlformats.org/drawingml/2006/main">
            <a:r>
              <a:t>时间线说明phase-aware门控：decode期间保护前台，随后利用slack预取，计算完成后在空闲期写回。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https://arxiv.org/abs/2508.13231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建议用时：80秒。</a:t>
            </a:r>
            <a:endParaRPr/>
          </a:p>
          <a:p xmlns:a="http://schemas.openxmlformats.org/drawingml/2006/main">
            <a:r>
              <a:t>阶段A最关键：先测目标平台的prefill每token/每page成本、UFS/LPDDR有效带宽与尾延迟、decode对并发I/O的敏感性。</a:t>
            </a:r>
            <a:endParaRPr/>
          </a:p>
          <a:p xmlns:a="http://schemas.openxmlformats.org/drawingml/2006/main">
            <a:r>
              <a:t>基线要公平：同一cache容量、同一page大小、同一精度，比较静态best_effort/wait_complete/timeout和三种写策略。</a:t>
            </a:r>
            <a:endParaRPr/>
          </a:p>
          <a:p xmlns:a="http://schemas.openxmlformats.org/drawingml/2006/main">
            <a:r>
              <a:t>门槛是研究目标，不是已取得结果。若无法满足，就应及时否定或缩小问题。</a:t>
            </a:r>
            <a:endParaRPr/>
          </a:p>
          <a:p xmlns:a="http://schemas.openxmlformats.org/drawingml/2006/main">
            <a:r>
              <a:t>平台表述保留选择空间：先在可控单机环境验证控制器，再根据实验室条件选择Android、Ascend或Jetson。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https://docs.sglang.io/docs/advanced_features/hicache_best_practices</a:t>
            </a:r>
            <a:endParaRPr/>
          </a:p>
          <a:p xmlns:a="http://schemas.openxmlformats.org/drawingml/2006/main">
            <a:r>
              <a:t>- https://arxiv.org/abs/2604.21231</a:t>
            </a:r>
            <a:endParaRPr/>
          </a:p>
          <a:p xmlns:a="http://schemas.openxmlformats.org/drawingml/2006/main">
            <a:r>
              <a:t>- https://www.usenix.org/conference/fast26/presentation/hu-shipeng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</a:t>
            </a:r>
            <a:endParaRPr/>
          </a:p>
          <a:p xmlns:a="http://schemas.openxmlformats.org/drawingml/2006/main">
            <a:r>
              <a:t>收束三句话：第一，HiCache的元数据、分页和异步状态机值得迁移；第二，CUDA/RDMA实现不能照搬；第三，研究贡献应落在端侧deadline/value/phase-aware的读写联合调度。</a:t>
            </a:r>
            <a:endParaRPr/>
          </a:p>
          <a:p xmlns:a="http://schemas.openxmlformats.org/drawingml/2006/main">
            <a:r>
              <a:t>请老师重点指导三个选择：目标硬件优先级；是否把KV量化纳入主线；评价中优先TTFT、能耗还是flash写入。</a:t>
            </a:r>
            <a:endParaRPr/>
          </a:p>
          <a:p xmlns:a="http://schemas.openxmlformats.org/drawingml/2006/main">
            <a:r>
              <a:t>最后强调下一步动作：先做microbenchmark和静态基线，确认收益上限，再实现EAHS。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https://docs.sglang.io/docs/advanced_features/hicache_design</a:t>
            </a:r>
            <a:endParaRPr/>
          </a:p>
          <a:p xmlns:a="http://schemas.openxmlformats.org/drawingml/2006/main">
            <a:r>
              <a:t>- https://arxiv.org/abs/2604.21231</a:t>
            </a:r>
            <a:endParaRPr/>
          </a:p>
          <a:p xmlns:a="http://schemas.openxmlformats.org/drawingml/2006/main">
            <a:r>
              <a:t>- https://www.usenix.org/conference/fast26/presentation/hu-shipeng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16fbbeaf548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094e0dcb140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b2e3dfc1c40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ac4d753e64d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befcb3da042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adb5d8cbd4c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f4836eb9147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7b7bd3457404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d17e42de64b3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c62cffc014b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fac22bacd4cf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5F785D-6D71-4CD5-9176-4B8FABC327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B555847-C87A-4A1E-A636-F4829E2738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E38B3560-F38F-41CB-8C40-1FEA001880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7177AE43-6EC9-480A-923E-B45C26401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6BAFAE0C-3A1E-47EF-85A3-63EAA3F3A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3512DB-8197-498B-90E8-C721B4D65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0C36C99-9BCD-441C-B1DE-D5928E61F2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2D27DB-5C78-4F77-9272-C99FB52E0F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0B5F24D-6D13-43D1-9B01-9A55BA240C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011DC4-4CB6-48FC-8269-24F6CE0507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CB9B0C-A89D-43A2-BEB1-37C22B36785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C0AC276-0F7A-49CA-B29C-49CD22F93E0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9C54D3-5620-4F08-A234-21233FFFA2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E57CE9E-06FA-47C2-98F6-AFD8207BED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2737F0F-5BFE-4482-84DA-7559657510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57A257-F981-4C5B-AC6C-8A064D6045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C3CA2E8-6FAE-434D-9A80-0B7F1BD85C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9393196-B47D-495A-A9E4-DE7C5BC126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B6A33A3-2B43-4232-82A8-CC59F08CA3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6828F43-5A1F-4479-B5DB-7C7AE9894C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E2D884-9D3E-4F65-9480-5661C29E7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B77063-72A0-4C9F-AF32-1F2EA5C66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13C3B5-C61B-41DD-B227-CAB668A15BD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04000"/>
            <a:ext cx="5342400" cy="4140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5FCA0FA-5D31-4A11-AE96-6EC624323A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E96FBC3-CCE4-451B-A250-A1AC906D52CE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04000"/>
            <a:ext cx="5342400" cy="4140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DD2A6D6-9F0C-4CA2-AD35-7A5BB561071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20484B6-00D6-47A5-A276-9F7C979A06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4632FA2-F1BF-4637-A6EC-2850A7809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EA7B6C9-739D-45FD-9319-D339ED334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C8C178-F480-4714-A74A-B58C4C497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1165CF9-6EC9-4844-A9CC-68B7434C97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F6928B7-CD7E-469A-B7C6-555DFF40B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E2AEA8D-F9FD-4F39-AB0B-C4A2D1F35A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36FD74E-0DB9-45EE-9EA5-20804EE59B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6C4FA9F-1B44-4A1C-8C46-B5583CDF69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51C4F7-AF32-4600-A710-6AD467EF68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A46D4EE-E970-4D84-9668-141ADC6396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F4688DD-2867-4766-BA9B-51DE17AACF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A869B69-9631-488C-A5F4-9CDD193F95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767552-62FD-4E22-86C4-69B66AF26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9573F36-B840-4D82-BDD5-98729D6911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4B10796-FD0D-4E5F-83F8-D51DAE11F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828E5B3-A261-451F-8AF0-31A3DA02161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6DF489C-0467-4E10-AFAA-0CA163CC6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CEDE6AE-E7B6-47FD-B135-1A5C93F22C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CD55F8E-2495-4F67-A061-26FC12BBC6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B36611-13FA-475B-BDED-DAE0416AD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BB94945-10F5-487E-BFB8-E79CBD153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93D95A7-78F3-400E-B96B-F5475B8CF0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A1DAB54-13AA-4274-B9FB-708828FA87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9CAF993E-0B8D-4A5A-A893-60C2EB2E893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D9CD79B-725D-4E87-9209-02B2B335CB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6E62F59-0EC7-4B30-9161-DA4E4E8F5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BBDE860-2E7B-478A-9D75-71F31CB426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8D7716-64A3-4C0D-B068-4BE07C0681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397600"/>
            <a:ext cx="9799200" cy="11052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FC71561B-F905-4EF8-B3D1-D7E11D49D51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5040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84d2143bca46f3" /><Relationship Type="http://schemas.openxmlformats.org/officeDocument/2006/relationships/slideLayout" Target="/ppt/slideLayouts/slideLayout1.xml" Id="R25743213b7aa4008" /><Relationship Type="http://schemas.openxmlformats.org/officeDocument/2006/relationships/slideLayout" Target="/ppt/slideLayouts/slideLayout2.xml" Id="R69d726a62ab5491a" /><Relationship Type="http://schemas.openxmlformats.org/officeDocument/2006/relationships/slideLayout" Target="/ppt/slideLayouts/slideLayout3.xml" Id="Rfdcab618e39648ab" /><Relationship Type="http://schemas.openxmlformats.org/officeDocument/2006/relationships/slideLayout" Target="/ppt/slideLayouts/slideLayout4.xml" Id="Re68d2836bf40474b" /><Relationship Type="http://schemas.openxmlformats.org/officeDocument/2006/relationships/slideLayout" Target="/ppt/slideLayouts/slideLayout5.xml" Id="R41108a048f3746be" /><Relationship Type="http://schemas.openxmlformats.org/officeDocument/2006/relationships/slideLayout" Target="/ppt/slideLayouts/slideLayout6.xml" Id="R953a17fa283440b6" /><Relationship Type="http://schemas.openxmlformats.org/officeDocument/2006/relationships/slideLayout" Target="/ppt/slideLayouts/slideLayout7.xml" Id="R9e8c8f9a3a0e468e" /><Relationship Type="http://schemas.openxmlformats.org/officeDocument/2006/relationships/slideLayout" Target="/ppt/slideLayouts/slideLayout8.xml" Id="R8b6ca00c100146fa" /><Relationship Type="http://schemas.openxmlformats.org/officeDocument/2006/relationships/slideLayout" Target="/ppt/slideLayouts/slideLayout9.xml" Id="Rc209fe87dd244978" /><Relationship Type="http://schemas.openxmlformats.org/officeDocument/2006/relationships/slideLayout" Target="/ppt/slideLayouts/slideLayout10.xml" Id="R07b8b8522335403c" /><Relationship Type="http://schemas.openxmlformats.org/officeDocument/2006/relationships/slideLayout" Target="/ppt/slideLayouts/slideLayout11.xml" Id="R11b45f62e9994d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88D920-89E4-4EB5-B6A8-0AE04BA9A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8B9926-311B-41E4-A106-976358135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4BE828-2659-40F8-B7F6-06E689E2F51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3C2BD0-F7A6-4822-A00B-12FE9E0E014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36F309-2207-423F-938A-192CD540A3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43213b7aa4008"/>
    <p:sldLayoutId xmlns:r="http://schemas.openxmlformats.org/officeDocument/2006/relationships" id="2147483650" r:id="R69d726a62ab5491a"/>
    <p:sldLayoutId xmlns:r="http://schemas.openxmlformats.org/officeDocument/2006/relationships" id="2147483651" r:id="Rfdcab618e39648ab"/>
    <p:sldLayoutId xmlns:r="http://schemas.openxmlformats.org/officeDocument/2006/relationships" id="2147483652" r:id="Re68d2836bf40474b"/>
    <p:sldLayoutId xmlns:r="http://schemas.openxmlformats.org/officeDocument/2006/relationships" id="2147483653" r:id="R41108a048f3746be"/>
    <p:sldLayoutId xmlns:r="http://schemas.openxmlformats.org/officeDocument/2006/relationships" id="2147483654" r:id="R953a17fa283440b6"/>
    <p:sldLayoutId xmlns:r="http://schemas.openxmlformats.org/officeDocument/2006/relationships" id="2147483655" r:id="R9e8c8f9a3a0e468e"/>
    <p:sldLayoutId xmlns:r="http://schemas.openxmlformats.org/officeDocument/2006/relationships" id="2147483656" r:id="R8b6ca00c100146fa"/>
    <p:sldLayoutId xmlns:r="http://schemas.openxmlformats.org/officeDocument/2006/relationships" id="2147483657" r:id="Rc209fe87dd244978"/>
    <p:sldLayoutId xmlns:r="http://schemas.openxmlformats.org/officeDocument/2006/relationships" id="2147483658" r:id="R07b8b8522335403c"/>
    <p:sldLayoutId xmlns:r="http://schemas.openxmlformats.org/officeDocument/2006/relationships" id="2147483659" r:id="R11b45f62e9994d66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80e7d1083d437e" /><Relationship Type="http://schemas.openxmlformats.org/officeDocument/2006/relationships/notesSlide" Target="/ppt/notesSlides/notesSlide1.xml" Id="R430e0c97f2da4b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5e9e0fac44959" /><Relationship Type="http://schemas.openxmlformats.org/officeDocument/2006/relationships/notesSlide" Target="/ppt/notesSlides/notesSlide2.xml" Id="Reabf45cd30dd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ec6ddae1c4ca3" /><Relationship Type="http://schemas.openxmlformats.org/officeDocument/2006/relationships/notesSlide" Target="/ppt/notesSlides/notesSlide3.xml" Id="R6ff1fc94a85049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bdd5925a64763" /><Relationship Type="http://schemas.openxmlformats.org/officeDocument/2006/relationships/notesSlide" Target="/ppt/notesSlides/notesSlide4.xml" Id="Rcd6c5010717c44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877da0b3a44e9" /><Relationship Type="http://schemas.openxmlformats.org/officeDocument/2006/relationships/notesSlide" Target="/ppt/notesSlides/notesSlide5.xml" Id="R130433e8041a4f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1a36b2b6547ba" /><Relationship Type="http://schemas.openxmlformats.org/officeDocument/2006/relationships/notesSlide" Target="/ppt/notesSlides/notesSlide6.xml" Id="Rce58130d3a444c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693c148354790" /><Relationship Type="http://schemas.openxmlformats.org/officeDocument/2006/relationships/notesSlide" Target="/ppt/notesSlides/notesSlide7.xml" Id="Rb3cb970da36342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c6755b767418d" /><Relationship Type="http://schemas.openxmlformats.org/officeDocument/2006/relationships/notesSlide" Target="/ppt/notesSlides/notesSlide8.xml" Id="R48b9b7943d54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bfe583db54726" /><Relationship Type="http://schemas.openxmlformats.org/officeDocument/2006/relationships/notesSlide" Target="/ppt/notesSlides/notesSlide9.xml" Id="Rd5e5dddd52db4b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8fe6d13164eff" /><Relationship Type="http://schemas.openxmlformats.org/officeDocument/2006/relationships/notesSlide" Target="/ppt/notesSlides/notesSlide10.xml" Id="Ra2893574ca1d48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f76a8a45b4d60" /><Relationship Type="http://schemas.openxmlformats.org/officeDocument/2006/relationships/notesSlide" Target="/ppt/notesSlides/notesSlide11.xml" Id="R663bff021fb240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e96950405498c" /><Relationship Type="http://schemas.openxmlformats.org/officeDocument/2006/relationships/notesSlide" Target="/ppt/notesSlides/notesSlide12.xml" Id="Rc5991ff0a9e74d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9488a72814c58" /><Relationship Type="http://schemas.openxmlformats.org/officeDocument/2006/relationships/notesSlide" Target="/ppt/notesSlides/notesSlide13.xml" Id="R5a6145c4c8ca4a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fc7675faa4d6d" /><Relationship Type="http://schemas.openxmlformats.org/officeDocument/2006/relationships/notesSlide" Target="/ppt/notesSlides/notesSlide14.xml" Id="Rd7717f97e4a748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b902088054b69" /><Relationship Type="http://schemas.openxmlformats.org/officeDocument/2006/relationships/notesSlide" Target="/ppt/notesSlides/notesSlide15.xml" Id="R066fb5c52a6540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F3B409-FC4B-45F1-B678-DD9F9A3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" y="1312545"/>
            <a:ext cx="12190730" cy="4037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5273E78-76EE-4FD7-9F48-9C6301EF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" y="2273300"/>
            <a:ext cx="121894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面向端侧大模型推理的分层KV缓存调度研究</a:t>
            </a:r>
            <a:endParaRPr sz="40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754182D-0B9F-4063-9954-C950A362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" y="3817620"/>
            <a:ext cx="12187555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HiCache机制迁移与端侧自适应预取 / 异步写回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r>
              <a:t>第一次组会汇报 · 2026年8月19日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249434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8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研究问题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4F2287-6CB5-4CEB-9474-E8E9556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研究问题：端侧能否用“存储换计算”降低重复 Prefill？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6E2A00-55C3-4D13-B06D-DE797CD5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结论先行：可迁移的是机制；需要重构的是实现；值得研究的是调度。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CAECAF6-95D1-4E16-96C9-4FAA82A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1F5F465-BA53-4594-B18B-F77BA6A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4874C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多轮会话 / Agent / RAG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共享长前缀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8848BD2-439F-4F06-A67C-1AAB2C23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5240">
            <a:solidFill>
              <a:srgbClr val="E876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高速KV池容量不足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前缀被逐出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328A85D-A38B-418A-B56C-9B83AEF9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5240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 Prefill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TTFT 与能耗上升</a:t>
            </a:r>
          </a:p>
        </p:txBody>
      </p:sp>
      <p:cxnSp>
        <p:nvCxnSpPr>
          <p:cNvPr id="129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3409950" y="26289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874CB"/>
            </a:solidFill>
            <a:prstDash val="solid"/>
            <a:tail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7410450" y="26289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874CB"/>
            </a:solidFill>
            <a:prstDash val="solid"/>
            <a:tailEnd type="triangle" w="med" len="me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7FD321-6B4B-45BF-BDC4-5BAC545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端侧已有可利用的层次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FC25F90-5DC4-4652-B26E-7BA0C90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加速器可见KV池  →  LPDDR统一内存  →  UFS / SSD持久存储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F76C1B-84A5-4EF1-B69B-90E272C3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480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建议研究主线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0706DB-53A4-4A36-8D8F-0A92E6FA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33718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Edge-HiCache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 EAHS联合调度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D6918C7-AF87-478C-9BF1-E1157DBD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汇报要回答四件事：为什么要缓存｜HiCache如何调度｜端侧哪里不同｜如何证明算法有效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8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研究问题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D3B77C-C959-4A44-BE25-76BC993E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KV Cache按“层数 × KV头数 × 上下文长度”线性膨胀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76E584-F6E3-4B92-8283-E26C2A65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以常见 Llama 3 8B GQA、FP16 KV 为例；数值用于量级说明。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51DC2E2-42C6-4E96-9C8C-16BCD7D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B550F67-FB1D-47C7-B52F-36160F4A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1447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通用公式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3960C42-FB2F-4DBB-9553-ED53355E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rPr>
              <a:t>Mₜₒₖ = 2 × L × Hₖᵥ × dₕ × b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BD0601-902D-4CF4-9C97-5B12EEB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K与V两份｜L层｜KV头｜每头维度｜每元素字节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6BEE1B7-C61B-4FC4-95EE-A7AB6615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 × 32 × 8 × 128 × 2 B = 128 KiB / token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880F10A-1470-4C14-B17D-8183E307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GQA已经显著减少KV头数，但上下文越长，容量仍线性增长。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FEF0E9-F492-4FB1-AD74-F5EEAA13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上下文容量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F0F8F9A-40DE-4E63-8F9D-4620C5B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8K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1F51E2-B70D-44F2-BADA-E27273A2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28900"/>
            <a:ext cx="10001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7B238B-5A5F-4582-B3CF-19EE55B4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 1 GiB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01D5836-DCB6-48A6-9ADC-9AAA4708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32K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F700DD1-AB27-4453-B34E-B0CE8156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86150"/>
            <a:ext cx="25241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645128F-044D-41E0-B653-53462A0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766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 4 GiB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B25F927-7810-41F6-B9C6-CCE17B91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EEDBFF-3C28-4C0B-BB2B-7B810178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43400"/>
            <a:ext cx="3143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59B205-7CEA-4AC9-8823-260C210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 16 GiB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8996146-321A-4FDE-865A-026272B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直接推论：缓存管理不是“锦上添花”，而是端侧长上下文能否持续运行的容量问题。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8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研究问题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2C35F5-FBA8-4456-8BEA-16107105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前缀命中省下的不只是注意力，还省下前缀全部层的投影与MLP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A233F1-231C-4FAA-AA55-D737A0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共享的是连续前缀，因此RadixTree / page才是合适的数据结构。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9CC6BF-B36E-417A-9388-F07D414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6B64F9C-BD0C-42BF-B150-82844DA2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第 t 轮输入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B5A918F-045A-4641-8F28-F8517C6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81200"/>
            <a:ext cx="5857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System Prompt + 历史对话（k tokens，可复用）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B0E9C63-CC20-4A91-BFC5-7C350268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81200"/>
            <a:ext cx="3381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383">
            <a:solidFill>
              <a:srgbClr val="E8762D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7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62D"/>
                </a:solidFill>
                <a:latin typeface="Microsoft YaHei"/>
                <a:ea typeface="Microsoft YaHei"/>
                <a:cs typeface="Microsoft YaHei"/>
              </a:rPr>
              <a:t>新问题（s tokens）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C9811E-4634-46CB-9919-2BBFE21D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无缓存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8377E8-00DE-47E4-B3EB-0A138FA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76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计算全部 N=k+s 个token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EDC876-F4F0-4281-8362-222F762D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命中前缀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CB4B6D-FB46-447A-A95C-C06B99C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480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直接加载前缀KV，只计算后缀 s 个token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431D18F-D078-4A86-A2B0-B4AA6992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近似节省量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58B9782-9CE5-456B-8CA8-631CCA0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线性项：前缀 k 个token的 Q/K/V 投影与 MLP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87E6D76-4B0F-47ED-9724-4B66B388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注意力项：约省下 k(k+1)/2 个因果注意力对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226A138-FF7E-4A26-963C-757584BD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71950"/>
            <a:ext cx="4476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命中必须满足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同模型 / 同权重版本 / 同token序列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位置编码与KV布局兼容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4633650-7B7C-4D96-B438-68D81028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因此：命中收益随前缀长度增加而上升，但是否值得加载，还取决于I/O与前台干扰。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框架机制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8EB6BF-40E1-4765-A8E7-63083AE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HiCache把RadixAttention扩展为GPU—CPU—外部存储三级KV缓存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52F2F7B-5817-4FCF-80F8-F7FDA930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L1/L2为实例私有，L3可跨实例共享；核心流程是匹配、预取、写回。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73AAEE-E1F2-4E56-B2FA-63D6B87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A11510C-B4B0-4624-A176-22C6B7F2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000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5240">
            <a:solidFill>
              <a:srgbClr val="5B6472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HiRadixTree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连续前缀元数据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FDE5D8C-3AD9-4BF0-A6D9-57FC837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4874C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  GPU / HBM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最快｜最小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直接参与计算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BC9D276-4E4D-4697-B55D-AC8BD86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86150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8F3"/>
          </a:solidFill>
          <a:ln xmlns:a="http://schemas.openxmlformats.org/drawingml/2006/main" w="15240">
            <a:solidFill>
              <a:srgbClr val="2D8A5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  Host DRAM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较快｜较大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本地前缀复用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1DE6F6-6C87-438C-A96C-A754688C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19675"/>
            <a:ext cx="2381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5240">
            <a:solidFill>
              <a:srgbClr val="E876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  外部存储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最大｜共享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Mooncake / 3FS / NIXL</a:t>
            </a:r>
          </a:p>
        </p:txBody>
      </p:sp>
      <p:cxnSp>
        <p:nvCxnSpPr>
          <p:cNvPr id="139" name=""/>
          <p:cNvCxnSpPr>
            <a:stCxn xmlns:a="http://schemas.openxmlformats.org/drawingml/2006/main" id="113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4476750" y="31527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874CB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40" name=""/>
          <p:cNvCxnSpPr>
            <a:stCxn xmlns:a="http://schemas.openxmlformats.org/drawingml/2006/main" id="114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4476750" y="46863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8762D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41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 flipV="1">
            <a:off x="2495550" y="2552700"/>
            <a:ext cx="790575" cy="566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B6472"/>
            </a:solidFill>
            <a:prstDash val="dash"/>
          </a:ln>
        </p:spPr>
      </p:cxnSp>
      <p:cxnSp>
        <p:nvCxnSpPr>
          <p:cNvPr id="142" name=""/>
          <p:cNvCxnSpPr>
            <a:stCxn xmlns:a="http://schemas.openxmlformats.org/drawingml/2006/main" id="111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2495550" y="3119438"/>
            <a:ext cx="790575" cy="966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B6472"/>
            </a:solidFill>
            <a:prstDash val="dash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A73A28D-5554-4BD6-93F0-36309AD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请求路径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AA6575C-D291-445B-BDF4-028085B8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L1/L2本地前缀匹配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06391E-79B4-4529-8E21-2FD7122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D882FE6-621F-4AB6-8A73-4E59123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未命中部分查询L3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BEA446-022E-4367-A491-4395F640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24BCDCF-4C59-492F-AAAC-E847745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③ L3→L2预取；L2→L1加载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5B096D-9582-4D86-A94E-97C6E568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0C3223-A82F-4E8C-B8BE-ED139611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Prefill / Decode执行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BC6DE27-6C4A-40D5-8192-7D4DFA25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53ADF2D-1DC0-4B85-8E7B-B34DEDA2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新KV按策略写回L2/L3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BC46D1-C933-4E63-810F-BF53FAD4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38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关键：L3元数据不持续同步，命中时实时查询后端。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框架机制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DCC894-9218-4EF9-B5CB-3170DC73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HiCache的关键不是三级名称，而是“何时读、等多久、何时写”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2CA4C4-2643-4651-8404-5E3C3FE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官方实现采用固定阈值与策略组合，并用独立线程/流隐藏部分数据移动。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6C5A28-2956-4DF3-909A-6C6DC26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3B7B4C-6CC0-44E4-8AB4-DDB45EF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预取：L3 → L2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32BD32-1B27-4A84-9106-FBFF434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触发：连续L3命中 ≥ 256 tokens（默认）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B3529A8-317E-458D-BD16-EDDB73A1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43225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best_effort：GPU可执行即停止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wait_complete：全部完成再执行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timeout：完成或到时停止（生产推荐）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09589D0-C47A-4483-9588-01D8BDC4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rPr>
              <a:t>T = min(Tmax, Tbase + α · nfetch / 1024)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6869D2D-CC43-49D1-84E3-DF86AEE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写回：L1 → L2 → L3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259FF15-E634-499B-9CF5-66EF2CA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000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write_through：每次访问都写下一层</a:t>
            </a:r>
          </a:p>
          <a:p xmlns:a="http://schemas.openxmlformats.org/drawingml/2006/main">
            <a:pPr algn="l">
              <a:def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selective：超过访问阈值才写</a:t>
            </a:r>
          </a:p>
          <a:p xmlns:a="http://schemas.openxmlformats.org/drawingml/2006/main">
            <a:pPr algn="l">
              <a:def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write_back：上层驱逐时才写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4B9E16-D303-4286-94A5-D9A5046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实现层并行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3915F26-05E9-4374-BE86-3F3CD4E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504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独立 prefetch / backup 后台线程与队列</a:t>
            </a:r>
          </a:p>
          <a:p xmlns:a="http://schemas.openxmlformats.org/drawingml/2006/main">
            <a:pPr algn="l">
              <a:def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独立 load / write 设备流，合并批量操作</a:t>
            </a:r>
          </a:p>
          <a:p xmlns:a="http://schemas.openxmlformats.org/drawingml/2006/main">
            <a:pPr algn="l">
              <a:def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L2→L1按层加载，与层计算重叠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61E7777-4997-41E1-929A-3FABE367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1CCA77B-EC48-472A-A37D-2722A912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研究切口：把固定阈值/固定策略，改为端侧在线成本模型驱动的读写联合调度。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5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端侧适配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660C3-8823-4A1D-BC48-5A476D5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移植判断：控制思想高度可复用，数据通路与分布式机制必须重写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D0EDDA-03DA-4DEB-AD2D-94519FD2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目标不是让SGLang在手机上原样运行，而是抽取可验证的端侧控制器。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C4A79B-488A-4742-A4AD-DF152B8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D5ED77-371F-4188-87A4-749A81F5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714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HiCache组成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BBE144-02CB-46FA-84AD-B0367A1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2362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端侧可复用性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CB8CF91-BFE7-4704-B148-BF9743E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2333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处理方式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CA953AD-4E99-41C2-AD4C-3101EFC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24288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56F5ABD-C4FE-4B17-BC43-FF6E9C3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11020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D"/>
          </a:solidFill>
          <a:ln xmlns:a="http://schemas.openxmlformats.org/drawingml/2006/main" w="7620">
            <a:solidFill>
              <a:srgbClr val="D9DFEA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275C2E-EF16-4A55-81C6-2DCABB2F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Radix前缀元数据 + page粒度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8F4A902-36B9-4F98-BDBD-67929E1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A840DD7-0404-409F-BA33-4B376A7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52700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保留并轻量化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D2ECFEA-392A-4544-9462-3F0A0AB8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2276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与硬件弱耦合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DE47888-8339-4D5C-BC0E-F191F69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52775"/>
            <a:ext cx="11020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FE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4145BEC-1AC4-494E-8E82-16F4B5E8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get / exists / set 存储接口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E420B92-1C81-4832-B9BA-C99ECCB0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9087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866BD9F-54C3-4308-871E-DF8EBEBE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908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映射为LPDDR/UFS后端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2FB527-CCDD-4967-8CDD-311BACC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90875"/>
            <a:ext cx="2276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接口简单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15877F8-CBA7-4A63-B88A-6340CF70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1020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D"/>
          </a:solidFill>
          <a:ln xmlns:a="http://schemas.openxmlformats.org/drawingml/2006/main" w="7620">
            <a:solidFill>
              <a:srgbClr val="D9DFE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5442B35-C3EA-4507-A351-0B42A83F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预取终止 + 写策略状态机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F1818A9-5FFB-4A42-9DDA-A7AE61D6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290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747867A-709B-4E83-98E4-5F6D0CC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29050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改为在线自适应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3B9663B-7AB0-4AE7-ABC4-EFB559BB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29050"/>
            <a:ext cx="2276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正是算法入口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CED2795-548D-4F4B-9287-8B4C949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020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FE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6526FF5-8E0F-4E5B-9F33-278190E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4679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CUDA kernel / pinned memory / stream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47B7BDA-9CAF-4F7F-BFD6-F3C621E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672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2219122-625A-4EFF-993C-4DC0554C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6722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按NPU/GPU运行时重写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B16B3B5-9018-4248-B76F-FB1C9B2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67225"/>
            <a:ext cx="2276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数据布局强耦合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2F1E878-F5E3-4FEE-873D-28884B80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1020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D"/>
          </a:solidFill>
          <a:ln xmlns:a="http://schemas.openxmlformats.org/drawingml/2006/main" w="7620">
            <a:solidFill>
              <a:srgbClr val="D9DFE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1995AD9-370C-4F08-BAEF-1546F77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RDMA共享L3、TP all_reduce、PD解耦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184D0C9-C070-484E-9EBF-9DD3AEE1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0540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454B3ED-0ABA-4F4A-9EB5-ED5B9F80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05400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单机端侧删除或改造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A499513-D1DA-47D0-843F-5766B10C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05400"/>
            <a:ext cx="2276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端侧通常无集群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46DCE7E-0CDF-4156-B2F5-9D1AEF15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结论：移植对象 = 元数据、分页、异步状态机、策略接口；不是CUDA/RDMA实现。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5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端侧适配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A8ED89-C027-4A99-B854-BDC62CAE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端侧把“后台I/O”变成前台竞争者：延迟、能耗、热和写放大必须一起算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EF8738-85FF-4E2F-828F-BBD9B6E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服务器上空闲的CPU/DRAM/NIC，在端侧往往共享同一功耗与带宽预算。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901D14-2613-4FA1-944C-8EF4FB3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F88F91-87C2-451F-BEA7-48298BAD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2457450" cy="2952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874C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64909A-ADF1-43C9-AAC4-D740688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70A9CD7-E2F1-41C7-A6DA-937C64A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统一内存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C83E1B1-6EA8-465B-9DDA-37BE9A75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76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L1/L2可能共用LPDDR</a:t>
            </a:r>
          </a:p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层次由可见性、格式和容量决定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467E1A-F259-4B2E-A5AC-ABE6B9B4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24075"/>
            <a:ext cx="2457450" cy="2952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A5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00D9F9-FCBF-4F24-908C-9609C08C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24075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9B6A456-885D-4266-AFE7-14758D6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共享带宽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2E4CF8-7CF4-48FF-BE17-A87F25CC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2076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Decode本就memory-bound</a:t>
            </a:r>
          </a:p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预取/写回会抢占内存总线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3C420CC-FEC0-48A8-8940-E7913814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2457450" cy="2952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762D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93CF295-85E1-4B82-A5E8-0ABC9A1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762D"/>
          </a:solidFill>
          <a:ln xmlns:a="http://schemas.openxmlformats.org/drawingml/2006/main" w="12383">
            <a:solidFill>
              <a:srgbClr val="E8762D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44A4E8-F349-4677-8A88-2F7AC77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能耗与热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AF3D4C-9CA6-4131-A168-DE229686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2076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后台任务并非免费</a:t>
            </a:r>
          </a:p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过热降频会放大尾延迟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C84F187-7540-45E3-BD5D-7FC25D4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457450" cy="2952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E46B95-D4C8-4EFB-A0B0-2F5F849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383">
            <a:solidFill>
              <a:srgbClr val="C00000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E105F5F-4038-4BC2-8F75-3F8194A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闪存约束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8EAFC9D-A27B-4EC9-98B2-1E18A40B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4175"/>
            <a:ext cx="2076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UFS容量大但尾延迟高</a:t>
            </a:r>
          </a:p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频繁write-through增加写放大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1B5DE1E-1245-47E0-B795-B402D92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端侧优化目标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111A7C1-3BB1-433C-8EB0-5E12317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343525"/>
            <a:ext cx="900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3954"/>
          </a:bodyPr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不再是单一 TTFT 最小化，而是：延迟 + SLO违约 + 能耗 + 热节流 + 闪存写入 的多目标约束。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D95C8C7-8E08-45E2-83AB-10DE83C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912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因此静态 wait_complete 或 write_through 在端侧可能“命中更高、体验反而更差”。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5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端侧适配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542299-B399-4BC3-B56B-55E4EE90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已有工作覆盖分层、加载、压缩；端侧读写联合调度仍有空白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5FF3E3-04A0-42C4-ABB8-C56608C2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这里是候选研究空隙，不宣称“首个”；开题前还需继续查新和复现。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CFD4C9-3673-4D05-9A51-2FF04672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EF09495-D92C-42A5-AD5B-239A143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2286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1376DCC-239A-438C-93C6-76BBD373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52625"/>
            <a:ext cx="4095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解决了什么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4EAB2D-F21C-44FA-9549-6E5FAACD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4476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与本方向的边界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E3A9719-B2E0-400E-8340-D5ECF2B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108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D"/>
          </a:solidFill>
          <a:ln xmlns:a="http://schemas.openxmlformats.org/drawingml/2006/main" w="0">
            <a:solidFill>
              <a:srgbClr val="F4F7FD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748D57-507D-42EA-BE74-DFCC2013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HiCache / Mooncake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1666EC8-9E75-429E-BAE7-431D4E83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66975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三级KV与跨实例复用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C4D87BD-EB35-43CA-BA2A-229ADE4F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66975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服务器集群；策略以规则/阈值为主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F24FB9E-2819-4EDD-9D5D-F79E9046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SparKV (2026)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C7CEEA-DD30-417C-977F-9617568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端侧：云端KV流式加载 vs 本地计算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B0140BC-881B-45D1-85E4-FB1AF517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侧重读路径；依赖云端KV来源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AAEBD4A-DB9D-4BF9-A26E-297F3C0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108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D"/>
          </a:solidFill>
          <a:ln xmlns:a="http://schemas.openxmlformats.org/drawingml/2006/main" w="0">
            <a:solidFill>
              <a:srgbClr val="F4F7FD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60484E-8524-4824-A3E6-B33F66C6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Bidaw (FAST'26)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F33F8C-9A5A-4D0E-8FAC-D29C959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Host-SSD两层、计算-存储感知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613E7C-240A-4A63-9EBF-EF3B9DA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05225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服务器交互负载；非统一内存端侧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0023A68-413B-481A-BDD2-2037CAC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NEO / FlexInfer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1CE346-5E35-447D-A0A5-73097FC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CPU offload与phase-aware策略选择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7B107E2-1B4D-4627-B6EF-7947077B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以服务器GPU/CPU执行为中心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313C2C8-4E06-4C28-827E-ECD799EE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05375"/>
            <a:ext cx="11087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D"/>
          </a:solidFill>
          <a:ln xmlns:a="http://schemas.openxmlformats.org/drawingml/2006/main" w="0">
            <a:solidFill>
              <a:srgbClr val="F4F7FD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7675B26-B950-4571-A146-F85B2DFD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KIVI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32BE5B7-630D-4193-95B2-AAC6D8A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43475"/>
            <a:ext cx="3952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2-bit KV量化，减少字节数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6AAD793-93D1-4AEB-B228-F47CFAA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43475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解决容量，不决定何时读写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D92CF7C-F61E-4FA6-BE0B-D9AB3DD9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5240">
            <a:solidFill>
              <a:srgbClr val="E8762D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9894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候选贡献：本地持久前缀复用 + 统一内存干扰建模 + deadline/value驱动预取 + phase-aware选择性写回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调度算法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0D9BF3-F4D5-4C7E-AD26-94DAA80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拟议Edge-HiCache：三层数据面 + 一个可观测、可抢占的EAHS控制器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13F80E-55E4-44C6-9A53-F245221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EAHS = Edge-Adaptive Hierarchical Scheduler；先做精确KV，量化作为后续可选项。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B36B7D-0D4B-46CD-91A1-6A6A3C7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89A41B-10FB-4008-B4AC-B1292D3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2095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4874C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端侧推理运行时</a:t>
            </a:r>
          </a:p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Prefill / Decode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BCEB17C-84CD-4190-8FE8-A81B317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29125"/>
            <a:ext cx="2095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5240">
            <a:solidFill>
              <a:srgbClr val="5B6472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EdgeRadix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page位置 / 热度 / 版本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210B415-A725-45DA-86B8-562344C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38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5240">
            <a:solidFill>
              <a:srgbClr val="E876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EAHS控制器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评分 · 截止期 · 预算 · 抢占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2924878-72D1-466A-8179-9CDD4E27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4874C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加速器可见KV池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FP16/BF16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6F804AB-4064-4DEB-8AEF-50566088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8F3"/>
          </a:solidFill>
          <a:ln xmlns:a="http://schemas.openxmlformats.org/drawingml/2006/main" w="15240">
            <a:solidFill>
              <a:srgbClr val="2D8A5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LPDDR温缓存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可选INT8/INT4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5E1B136-9C19-450D-BA49-D1A26E80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5240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UFS/SSD持久KV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按会话/前缀命名</a:t>
            </a:r>
          </a:p>
        </p:txBody>
      </p:sp>
      <p:cxnSp>
        <p:nvCxnSpPr>
          <p:cNvPr id="138" name=""/>
          <p:cNvCxnSpPr>
            <a:stCxn xmlns:a="http://schemas.openxmlformats.org/drawingml/2006/main" id="111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2571750" y="2971800"/>
            <a:ext cx="176212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874CB"/>
            </a:solidFill>
            <a:prstDash val="solid"/>
            <a:tailEnd type="triangle" w="med" len="med"/>
          </a:ln>
        </p:spPr>
      </p:cxnSp>
      <p:cxnSp>
        <p:nvCxnSpPr>
          <p:cNvPr id="139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 flipV="1">
            <a:off x="2571750" y="3952875"/>
            <a:ext cx="1762125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B6472"/>
            </a:solidFill>
            <a:prstDash val="dash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 flipV="1">
            <a:off x="7762875" y="2524125"/>
            <a:ext cx="1343025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4874CB"/>
            </a:solidFill>
            <a:prstDash val="solid"/>
            <a:tailEnd type="triangle" w="med" len="med"/>
          </a:ln>
        </p:spPr>
      </p:cxnSp>
      <p:cxnSp>
        <p:nvCxnSpPr>
          <p:cNvPr id="141" name=""/>
          <p:cNvCxnSpPr>
            <a:stCxn xmlns:a="http://schemas.openxmlformats.org/drawingml/2006/main" id="113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 flipV="1">
            <a:off x="7762875" y="3857625"/>
            <a:ext cx="134302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D8A5B"/>
            </a:solidFill>
            <a:prstDash val="solid"/>
            <a:tailEnd type="triangle" w="med" len="med"/>
          </a:ln>
        </p:spPr>
      </p:cxnSp>
      <p:cxnSp>
        <p:nvCxnSpPr>
          <p:cNvPr id="142" name=""/>
          <p:cNvCxnSpPr>
            <a:stCxn xmlns:a="http://schemas.openxmlformats.org/drawingml/2006/main" id="113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7762875" y="3952875"/>
            <a:ext cx="1343025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4CC88B-F2D3-461E-988B-6FF0ED07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观测输入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2C1731-F5D7-4578-94D7-8F1AD884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289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命中长度 / 队列等待 / 实测带宽</a:t>
            </a:r>
          </a:p>
          <a:p xmlns:a="http://schemas.openxmlformats.org/drawingml/2006/main">
            <a:pPr algn="ctr">
              <a:defRPr sz="146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前台phase / 温度 / 电量 / 可写预算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FDB7011-3DE8-430F-A003-B7416D4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339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62D"/>
                </a:solidFill>
                <a:latin typeface="Microsoft YaHei"/>
                <a:ea typeface="Microsoft YaHei"/>
                <a:cs typeface="Microsoft YaHei"/>
              </a:rPr>
              <a:t>控制输出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4D83FE1-1B47-4DD8-BE5E-4E7C696E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prefetch · cancel · write · evict · compress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0FC4DC4-ECF5-49D9-B8CE-42224023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接口最小化：运行时只需暴露prefix match、page load/store、phase与计时/能耗观测。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调度算法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1BE343-B32C-4619-876F-4D40204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把调度写成“期望计算节省 − 数据移动代价”，避免固定阈值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183384-BDD4-4477-98CC-617799BB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page i 的价值由前缀长度、复用概率、截止期和当前硬件状态共同决定。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D62BB5A-D65B-4DA9-9D5B-1F254C53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C08E76E-FBD4-457C-91A1-37D72A7F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4763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全局目标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74223CE-814C-4EAB-85D8-1008296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15BA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>
                <a:solidFill>
                  <a:srgbClr val="315BA6"/>
                </a:solidFill>
                <a:latin typeface="Cambria Math"/>
                <a:ea typeface="Cambria Math"/>
                <a:cs typeface="Cambria Math"/>
              </a:rPr>
              <a:t>min  J = p95(TTFT) + α·Erequest + β·FlashWrite + γ·SLOmiss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9450DFE-384F-430C-950D-3F59BF0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FE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74786A-F03E-4B31-BC82-259FE9A9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读收益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EA6D1BC-84AC-4E83-AF81-824329D8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rPr>
              <a:t>Uᵣ(i) = pᵢ · Cᵢ  −  Rᵢ  −  λE·Eᵢ  −  λI·Iᵢ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472E6C8-3155-42C1-9D96-C3751FD6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504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Cᵢ：避免重算的时间</a:t>
            </a:r>
          </a:p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Rᵢ：从当前层读取的完成时间</a:t>
            </a:r>
          </a:p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Iᵢ：对前台decode的干扰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0C28764-90B2-4F2A-A297-8BF50D3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写收益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AD0B74B-1D93-4D37-B471-B552ACC3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714"/>
          </a:bodyPr>
          <a:lstStyle xmlns:a="http://schemas.openxmlformats.org/drawingml/2006/main"/>
          <a:p xmlns:a="http://schemas.openxmlformats.org/drawingml/2006/main">
            <a:pPr algn="l">
              <a:defRPr sz="1838" b="1">
                <a:solidFill>
                  <a:srgbClr val="2D8A5B"/>
                </a:solidFill>
                <a:latin typeface="Cambria Math"/>
                <a:ea typeface="Cambria Math"/>
                <a:cs typeface="Cambria Math"/>
              </a:defRPr>
            </a:pPr>
            <a:r>
              <a:rPr sz="1838" b="1">
                <a:solidFill>
                  <a:srgbClr val="2D8A5B"/>
                </a:solidFill>
                <a:latin typeface="Cambria Math"/>
                <a:ea typeface="Cambria Math"/>
                <a:cs typeface="Cambria Math"/>
              </a:rPr>
              <a:t>U𝓌(i) = pᵢᴴ·(Cᵢ−Rᵢ) − Wᵢ − λF·Wearᵢ − λM·bᵢ/C₃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8DA0170-F539-4ACC-834C-8C972105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91025"/>
            <a:ext cx="5000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pᵢᴴ：未来窗口H内复用概率</a:t>
            </a:r>
          </a:p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Wᵢ：写入时间/能耗</a:t>
            </a:r>
          </a:p>
          <a:p xmlns:a="http://schemas.openxmlformats.org/drawingml/2006/main">
            <a:pPr algn="l">
              <a:def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bᵢ/C₃：占用持久层容量的机会成本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16FE7A-566D-49B8-A982-2547D6E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5240">
            <a:solidFill>
              <a:srgbClr val="E8762D"/>
            </a:solidFill>
            <a:prstDash val="solid"/>
          </a:ln>
        </p:spPr>
        <p:txBody>
          <a:bodyPr xmlns:a="http://schemas.openxmlformats.org/drawingml/2006/main" lIns="114300" tIns="5715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执行门槛：U &gt; 0 且预计完成时间 ≤ deadline；同时满足内存、I/O带宽、能耗与温度预算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调度算法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3F40BC-6DBC-4FED-84A0-B3A363F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EAHS在线算法：读队列按deadline/value排序，写队列按phase门控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7F4C62-9817-4E8C-94E9-0348E772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核心原则：read优先于write；前台decode优先于后台I/O；低收益操作随时取消。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C20CF99-884A-41C1-BF27-24653FC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85B7D9A-4190-4400-8103-5B25E2EA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4874C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本地前缀匹配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A7BBAD0-46E3-4E94-85AB-6C3043A8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2143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5240">
            <a:solidFill>
              <a:srgbClr val="4874C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构造连续page候选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10FE987-5C93-4EE7-82D6-F18B6CE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2333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5240">
            <a:solidFill>
              <a:srgbClr val="E8762D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3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估计 C/R/p/deadline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26B7F42-8363-447A-AC45-1699DE98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762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8F3"/>
          </a:solidFill>
          <a:ln xmlns:a="http://schemas.openxmlformats.org/drawingml/2006/main" w="15240">
            <a:solidFill>
              <a:srgbClr val="2D8A5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入读队列或本地重算</a:t>
            </a:r>
          </a:p>
        </p:txBody>
      </p:sp>
      <p:cxnSp>
        <p:nvCxnSpPr>
          <p:cNvPr id="144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2447925" y="26003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874CB"/>
            </a:solidFill>
            <a:prstDash val="soli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4981575" y="26003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874CB"/>
            </a:solidFill>
            <a:prstDash val="soli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7705725" y="26003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874CB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EAB130-02A6-461E-AF29-56446D5D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99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读队列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CF79E5-12C8-498A-A225-45E6269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Priorityᵣ = Uᵣ / transfer_time + κ / slack</a:t>
            </a:r>
          </a:p>
          <a:p xmlns:a="http://schemas.openxmlformats.org/drawingml/2006/main">
            <a:pPr algn="l">
              <a:defRPr sz="1613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按连续前缀依赖取page；deadline将到则终止/部分采用。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97D43A7-1EA5-4C61-8B00-AD221876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0995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写队列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7091F2-1DA4-4E81-BBAF-3E8E0128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481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仅 U𝓌&gt;0 才入队；相邻page合并写</a:t>
            </a:r>
          </a:p>
          <a:p xmlns:a="http://schemas.openxmlformats.org/drawingml/2006/main">
            <a:pPr algn="l">
              <a:defRPr sz="1613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Decode活跃：暂停｜Prefill：限速｜Idle：排空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ABF31A6-D46F-4504-831E-26978E0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52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740AF84-266B-4AA3-998D-67441B2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0000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4CB9499-4E21-4255-879B-9E1239B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DECODE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829CB4-1F8D-47F9-B6AE-D0A437C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02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保留总线</a:t>
            </a:r>
          </a:p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抢占全部低优先级写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A2303D9-FD6F-4289-9387-0FF8F4A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97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8762D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30C31B6-6BAB-4C4D-8F96-5CA8F51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95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E87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E8762D"/>
                </a:solidFill>
                <a:latin typeface="Microsoft YaHe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112A932-8671-41A6-93F1-716704BC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02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仅在实测干扰&lt;ε时</a:t>
            </a:r>
          </a:p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重叠读/写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322869A-DA71-4CC6-A969-E4A7102D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874CB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DC7A921-8E9C-4937-9CAB-F9B6A88C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95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QUEUE SLACK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966E59-A808-4CAF-A9E8-ED359AC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02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优先完成即将到期的读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BEED0F9-0D57-4504-B93B-C7FE9B4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D8A5B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314B3B8-9458-4EF6-9FBB-9530F4DD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95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IDLE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6BBE5FE-6556-4F7E-93B7-106D407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102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合并并排空高价值写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调度算法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F4F07C-97FC-4225-8294-8EB37AC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一个page是否预取，只需先回答“加载是否比重算更便宜”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1AE9FA-42D4-43B1-8829-EA4B102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以下为演示性假设，不是实验结果；实际参数必须由目标设备microbenchmark测得。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E7B85D-3B2E-4CFA-88DC-EC9F1BD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C593214-B6D5-4BF8-BD8E-1261C2A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762D"/>
          </a:solidFill>
          <a:ln xmlns:a="http://schemas.openxmlformats.org/drawingml/2006/main" w="12383">
            <a:solidFill>
              <a:srgbClr val="E8762D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522C133-0398-4D0C-AFEE-2FADC75F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page = 64 tokens；128 KiB/token → 8 MiB/page</a:t>
            </a:r>
          </a:p>
          <a:p xmlns:a="http://schemas.openxmlformats.org/drawingml/2006/main">
            <a:pPr algn="l">
              <a:def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L3有效带宽 = 1.5 GB/s；固定开销 = 0.3 ms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8AAC9A0-18D6-4A4D-BF47-8FC86A3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>
                <a:solidFill>
                  <a:srgbClr val="315BA6"/>
                </a:solidFill>
                <a:latin typeface="Cambria Math"/>
                <a:ea typeface="Cambria Math"/>
                <a:cs typeface="Cambria Math"/>
              </a:rPr>
              <a:t>R ≈ 8 MiB / 1.5 GB/s + 0.3 ms ≈ 5.9 ms/page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91BF83C-D702-444B-AAD6-70098B7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8F3"/>
          </a:solidFill>
          <a:ln xmlns:a="http://schemas.openxmlformats.org/drawingml/2006/main" w="19050">
            <a:solidFill>
              <a:srgbClr val="2D8A5B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若避免重算 C = 12 ms</a:t>
            </a:r>
          </a:p>
          <a:p xmlns:a="http://schemas.openxmlformats.org/drawingml/2006/main">
            <a:pPr algn="ctr">
              <a:defRPr sz="2025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U ≈ +6.1 ms → 预取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B8C01D-223E-432A-8770-8B60F322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810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若总线拥塞使 R = 16 ms</a:t>
            </a:r>
          </a:p>
          <a:p xmlns:a="http://schemas.openxmlformats.org/drawingml/2006/main">
            <a:pPr algn="ctr">
              <a:def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U ≈ −4 ms → 取消并重算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460DFC8-EDF2-4F0C-A6D3-15E15D7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095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phase门控时间线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315D9B-6639-412A-BAAE-75AF8C9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 ms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0387EF6-0DF2-4792-8472-1AF7A8B4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86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569DA0F-1FB3-4D96-920A-07F3ED75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4502A2F-8BD1-4859-8B46-7B095D61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2570A4C-F06D-459F-B520-FF84CA73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383">
            <a:solidFill>
              <a:srgbClr val="C0000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E1AFBEF-1DA3-45CB-95FD-240AFC00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前台Decode：禁止写回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2878963-6D9E-44B2-9FBB-DCBF09E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10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C188A61-D2F9-4B1F-A6A3-EA57D2A3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6730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读预取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CF3B40-0CB1-4120-83B0-14313FE6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2D"/>
          </a:solidFill>
          <a:ln xmlns:a="http://schemas.openxmlformats.org/drawingml/2006/main" w="12383">
            <a:solidFill>
              <a:srgbClr val="E8762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8E33E68-18D4-4563-985E-BA0E1D5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9D774B1-6EB0-436A-AD00-D0C3C0A6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101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1E25780-D52A-436E-8CC6-368FE81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673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B4B8E2-C2C3-4BA5-8B4F-D1FE3731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关键不是“尽早搬”，而是在deadline前、且不伤害前台时完成搬运。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EC2B6117-4927-4482-A918-8A015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-13970"/>
            <a:ext cx="12219940" cy="7023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latin typeface="PingFang SC Semibold"/>
                <a:ea typeface="PingFang SC Semibold"/>
                <a:cs typeface="PingFang SC Semibold"/>
              </a:rPr>
              <a:t>研究问题 | 框架机制 | 端侧适配 | 调度算法 | 验证计划</a:t>
            </a:r>
            <a:endParaRPr sz="3200" b="1">
              <a:latin typeface="PingFang SC Semibold"/>
              <a:ea typeface="PingFang SC Semibold"/>
              <a:cs typeface="PingFang SC Semibold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D0CAA91C-BA78-4320-BB28-0984235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85725"/>
            <a:ext cx="1903095" cy="4610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验证计划</a:t>
            </a:r>
            <a:endParaRPr sz="32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F1546-15DB-4CF3-AA05-F3DA888C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1146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15BA6"/>
                </a:solidFill>
                <a:latin typeface="Microsoft YaHei"/>
                <a:ea typeface="Microsoft YaHei"/>
                <a:cs typeface="Microsoft YaHei"/>
              </a:rPr>
              <a:t>先测收益上限，再做复杂算法：三阶段验证能及时否定错误方向</a:t>
            </a:r>
          </a:p>
        </p:txBody>
      </p:sp>
      <p:sp>
        <p:nvSpPr>
          <p:cNvPr id="10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481CFF-13D6-41F0-9274-F5D6AFBB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基线必须覆盖HiCache静态策略；指标同时看延迟、命中、干扰、能耗和写入。 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437A7C-F41F-407C-A5F1-50A59F4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859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874CB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7765214-EC53-4924-880C-57F0D852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143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874C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97771C-7D0E-41E0-9C95-771D61D1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C62FD1-C480-4CF4-8A14-6365C4D6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阶段A｜1–3周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D54E5AA-98AE-46FD-88FF-74B27E81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800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Microbenchmark + trace模拟</a:t>
            </a:r>
          </a:p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拟合 C(k)、R(b)、干扰曲线</a:t>
            </a:r>
          </a:p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确认break-even区间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9A9206-E404-4D80-B330-A80C9DA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B9104DA-9D7A-4EF7-8C5D-4D01C206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3143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762D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D709465-6DF8-4EE2-91AB-488C86D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762D"/>
          </a:solidFill>
          <a:ln xmlns:a="http://schemas.openxmlformats.org/drawingml/2006/main" w="12383">
            <a:solidFill>
              <a:srgbClr val="E8762D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A7BF495-3CD5-4099-9362-9CF6BB11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阶段B｜4–8周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4529D05-13B4-4DD1-90F0-A59CCF9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2800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9325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单机原型</a:t>
            </a:r>
          </a:p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SGLang/Jetson或MLC/llama.cpp挂钩</a:t>
            </a:r>
          </a:p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实现EdgeRadix与双队列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DDCF690-3A71-43B6-B7FD-DE85CD6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C258BA-763F-49D1-A2FB-D61AE18C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47875"/>
            <a:ext cx="3143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8A5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5188D1-D647-44DD-BDBA-136F7D84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47875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CFC4F3-B1C4-4C5B-B9F0-3E9DCB3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145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阶段C｜9–12周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8AA809E-DF1C-48EF-B398-3D54BF0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2800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9325"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真实端侧验证</a:t>
            </a:r>
          </a:p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Android / Ascend / Jetson择一</a:t>
            </a:r>
          </a:p>
          <a:p xmlns:a="http://schemas.openxmlformats.org/drawingml/2006/main">
            <a:pPr algn="ctr">
              <a:def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测能耗、热与UFS写入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D6E1CF-3DE1-4782-BEF0-8EF4A620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15BA6"/>
          </a:solidFill>
          <a:ln xmlns:a="http://schemas.openxmlformats.org/drawingml/2006/main" w="12383">
            <a:solidFill>
              <a:srgbClr val="315BA6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90DC54B-571F-40D4-BF70-A4B45ACD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67175"/>
            <a:ext cx="985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无前缀缓存｜仅L1 Radix｜HiCache三种prefetch × 三种write｜EAHS及消融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14DF20E-DC16-4EE8-9812-809CD18B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8A5B"/>
          </a:solidFill>
          <a:ln xmlns:a="http://schemas.openxmlformats.org/drawingml/2006/main" w="12383">
            <a:solidFill>
              <a:srgbClr val="2D8A5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FC24755-BCC0-4F8B-8A3F-2BB0C8C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57725"/>
            <a:ext cx="985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p50/p95 TTFT、p95 ITL、层级命中率、无效预取字节、J/request、温度、flash写入量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8269648-3F60-4DC7-952E-A54B3B1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762D"/>
          </a:solidFill>
          <a:ln xmlns:a="http://schemas.openxmlformats.org/drawingml/2006/main" w="12383">
            <a:solidFill>
              <a:srgbClr val="E8762D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门槛（暂定）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A8374E7-3497-472E-A581-D09606A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29225"/>
            <a:ext cx="925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相对最佳静态基线：p95 TTFT降低≥20%；ITL回退≤5%；能耗不升；写入量较write-through降低≥30%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01E3174-356E-4A63-84EC-B984F75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止损条件：若实测 R ≥ C 的场景占绝大多数，则转向KV压缩/重计算选择，不继续堆调度复杂度。</a:t>
            </a:r>
          </a:p>
        </p:txBody>
      </p:sp>
    </p:spTree>
    <p:extLst>
      <p:ext uri="{BB962C8B-B14F-4D97-AF65-F5344CB8AC3E}">
        <p14:creationId xmlns:p14="http://schemas.microsoft.com/office/powerpoint/2010/main" val="4249782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0D88D2A-6474-45F8-9A46-3C14DC4B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" y="1312545"/>
            <a:ext cx="12190730" cy="40379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7539A84-FE7C-4C0B-BF1A-C9785C1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" y="2273300"/>
            <a:ext cx="1218946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机制可迁移｜实现需重构｜调度是研究核心</a:t>
            </a:r>
            <a:endParaRPr sz="4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5896297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2026-08-07T09:59:10.4610000Z</dcterms:created>
  <dcterms:modified xsi:type="dcterms:W3CDTF">2026-08-07T09:59:10.4610000Z</dcterms:modified>
</coreProperties>
</file>