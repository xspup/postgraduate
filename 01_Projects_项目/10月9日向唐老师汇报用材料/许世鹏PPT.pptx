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11"/>
  </p:handoutMasterIdLst>
  <p:sldIdLst>
    <p:sldId id="264" r:id="rId3"/>
    <p:sldId id="256" r:id="rId4"/>
    <p:sldId id="263" r:id="rId6"/>
    <p:sldId id="258" r:id="rId7"/>
    <p:sldId id="259" r:id="rId8"/>
    <p:sldId id="260" r:id="rId9"/>
    <p:sldId id="265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34" userDrawn="1">
          <p15:clr>
            <a:srgbClr val="A4A3A4"/>
          </p15:clr>
        </p15:guide>
        <p15:guide id="2" pos="384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034"/>
        <p:guide pos="384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handoutMaster" Target="handoutMasters/handoutMaster1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pPr algn="just"/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2021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年，国家发改委等四部委正式提出构建全国一体化算力网络，实施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“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东数西算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”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国家级工程实践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；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just"/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与此同时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，</a:t>
            </a:r>
            <a:r>
              <a:rPr lang="zh-CN" altLang="en-US" dirty="0">
                <a:sym typeface="+mn-ea"/>
              </a:rPr>
              <a:t>以大模型为代表的生成式</a:t>
            </a:r>
            <a:r>
              <a:rPr lang="en-US" altLang="zh-CN" dirty="0">
                <a:sym typeface="+mn-ea"/>
              </a:rPr>
              <a:t>AI</a:t>
            </a:r>
            <a:r>
              <a:rPr lang="zh-CN" altLang="en-US" dirty="0">
                <a:sym typeface="+mn-ea"/>
              </a:rPr>
              <a:t>技术快速发展，</a:t>
            </a:r>
            <a:r>
              <a:rPr lang="zh-CN" altLang="en-US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驱动网络实现自智</a:t>
            </a:r>
            <a:r>
              <a:rPr lang="en-US" altLang="zh-CN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。</a:t>
            </a:r>
            <a:endParaRPr lang="en-US" altLang="zh-CN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just"/>
            <a:r>
              <a:rPr lang="zh-CN" altLang="en-US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数据</a:t>
            </a:r>
            <a:r>
              <a:rPr lang="en-US" altLang="zh-CN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、</a:t>
            </a:r>
            <a:r>
              <a:rPr lang="zh-CN" altLang="en-US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算力及算法</a:t>
            </a:r>
            <a:r>
              <a:rPr lang="en-US" altLang="zh-CN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，</a:t>
            </a:r>
            <a:r>
              <a:rPr lang="zh-CN" altLang="en-US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已成为</a:t>
            </a:r>
            <a:r>
              <a:rPr lang="zh-CN" altLang="en-US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智能互联网</a:t>
            </a:r>
            <a:r>
              <a:rPr lang="zh-CN" altLang="en-US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时代的重要元素</a:t>
            </a:r>
            <a:r>
              <a:rPr lang="en-US" altLang="zh-CN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。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just"/>
            <a:endParaRPr lang="zh-CN" altLang="en-US"/>
          </a:p>
          <a:p>
            <a:pPr algn="just"/>
            <a:r>
              <a:rPr lang="zh-CN" altLang="en-US"/>
              <a:t>在政策引导与</a:t>
            </a:r>
            <a:r>
              <a:rPr lang="en-US" altLang="zh-CN"/>
              <a:t>AI</a:t>
            </a:r>
            <a:r>
              <a:rPr lang="zh-CN" altLang="en-US"/>
              <a:t>浪潮下，现有对算力网络研究普遍关注协同</a:t>
            </a:r>
            <a:r>
              <a:rPr lang="zh-CN" altLang="en-US"/>
              <a:t>调度策略与智能优化算法</a:t>
            </a:r>
            <a:r>
              <a:rPr lang="en-US" altLang="zh-CN"/>
              <a:t>，</a:t>
            </a:r>
            <a:r>
              <a:rPr lang="zh-CN" altLang="en-US"/>
              <a:t>仍面临”算网资源协同机制薄弱“和“系统智能化水平有限”的双重挑战。</a:t>
            </a:r>
            <a:endParaRPr lang="zh-CN" altLang="en-US"/>
          </a:p>
          <a:p>
            <a:pPr algn="just"/>
            <a:endParaRPr lang="zh-CN" altLang="en-US"/>
          </a:p>
          <a:p>
            <a:pPr algn="just"/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因此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，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本项目聚焦国家新基建与新型信息基础设施发展需求，以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“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高效协同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+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智能管控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”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为支柱能力，研究面向服务的算力网络体系架构与关键技术，旨在实现服务的高效智能供给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。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本研究共包括两个主要内容</a:t>
            </a:r>
            <a:r>
              <a:rPr lang="en-US" altLang="zh-CN"/>
              <a:t>。</a:t>
            </a:r>
            <a:endParaRPr lang="en-US" altLang="zh-CN"/>
          </a:p>
          <a:p>
            <a:endParaRPr lang="en-US" altLang="zh-CN"/>
          </a:p>
          <a:p>
            <a:r>
              <a:rPr lang="zh-CN" altLang="en-US"/>
              <a:t>算力网络调度常面临算力节点泛在异构、任务需求复杂多样以及</a:t>
            </a:r>
            <a:r>
              <a:rPr lang="zh-CN" altLang="en-US"/>
              <a:t>算网协同机制匮乏等挑战，导致资源供需失衡、难以统一调度，整体利用率偏低。</a:t>
            </a:r>
            <a:endParaRPr lang="zh-CN" altLang="en-US"/>
          </a:p>
          <a:p>
            <a:r>
              <a:rPr lang="zh-CN" altLang="en-US"/>
              <a:t>为此，研究内容一聚焦于“面向高差异服务的算网资源协同</a:t>
            </a:r>
            <a:r>
              <a:rPr lang="zh-CN" altLang="en-US"/>
              <a:t>调度机制研究”，从</a:t>
            </a:r>
            <a:r>
              <a:rPr lang="en-US" altLang="zh-CN"/>
              <a:t>“</a:t>
            </a:r>
            <a:r>
              <a:rPr lang="zh-CN" altLang="en-US"/>
              <a:t>多源异质性任务的统一建模方法</a:t>
            </a:r>
            <a:r>
              <a:rPr lang="en-US" altLang="zh-CN"/>
              <a:t>”</a:t>
            </a:r>
            <a:r>
              <a:rPr lang="zh-CN" altLang="en-US"/>
              <a:t>与</a:t>
            </a:r>
            <a:r>
              <a:rPr lang="en-US" altLang="zh-CN"/>
              <a:t>“</a:t>
            </a:r>
            <a:r>
              <a:rPr lang="zh-CN" altLang="en-US"/>
              <a:t>面向集群的轻量级实时调度模型</a:t>
            </a:r>
            <a:r>
              <a:rPr lang="en-US" altLang="zh-CN"/>
              <a:t>”</a:t>
            </a:r>
            <a:r>
              <a:rPr lang="zh-CN" altLang="en-US"/>
              <a:t>两个方面入手，</a:t>
            </a:r>
            <a:endParaRPr lang="zh-CN" altLang="en-US"/>
          </a:p>
          <a:p>
            <a:r>
              <a:rPr lang="zh-CN" altLang="en-US"/>
              <a:t>通过提升任务抽象与系统状态感知能力，构建任务与资源之间的互理解模型，再结合分段调度策略与深度强化学习优化调度流程，最终实现算力资源的高效匹配、全局协同与调度策略的自适应演进。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其次</a:t>
            </a:r>
            <a:r>
              <a:rPr lang="en-US" altLang="zh-CN"/>
              <a:t>，</a:t>
            </a:r>
            <a:r>
              <a:rPr lang="zh-CN" altLang="en-US"/>
              <a:t>算力网络当前普遍缺乏对用户意图的精准感知与策略响应机制，且系统多模块智能能力分散，难以支撑高动态环境下的自适应协同管控与闭环治理。</a:t>
            </a:r>
            <a:endParaRPr lang="zh-CN" altLang="en-US"/>
          </a:p>
          <a:p>
            <a:r>
              <a:rPr lang="zh-CN" altLang="en-US"/>
              <a:t>为解决上述问题，</a:t>
            </a:r>
            <a:r>
              <a:rPr lang="zh-CN" altLang="en-US"/>
              <a:t>内容二研究“以意图为核心的多模块协同算网智能管控机理”，围绕</a:t>
            </a:r>
            <a:r>
              <a:rPr lang="en-US" altLang="zh-CN"/>
              <a:t>“</a:t>
            </a:r>
            <a:r>
              <a:rPr lang="zh-CN" altLang="en-US"/>
              <a:t>基于意图驱动的算网管控策略生成机制</a:t>
            </a:r>
            <a:r>
              <a:rPr lang="en-US" altLang="zh-CN"/>
              <a:t>”</a:t>
            </a:r>
            <a:r>
              <a:rPr lang="zh-CN" altLang="en-US"/>
              <a:t>与</a:t>
            </a:r>
            <a:r>
              <a:rPr lang="en-US" altLang="zh-CN"/>
              <a:t>“</a:t>
            </a:r>
            <a:r>
              <a:rPr lang="zh-CN" altLang="en-US"/>
              <a:t>基于多模块协同智能的算网服务自动化机制</a:t>
            </a:r>
            <a:r>
              <a:rPr lang="en-US" altLang="zh-CN"/>
              <a:t>”</a:t>
            </a:r>
            <a:r>
              <a:rPr lang="zh-CN" altLang="en-US"/>
              <a:t>两个方面展开。</a:t>
            </a:r>
            <a:endParaRPr lang="zh-CN" altLang="en-US"/>
          </a:p>
          <a:p>
            <a:r>
              <a:rPr lang="zh-CN" altLang="en-US"/>
              <a:t>首先构建少样本意图识别模型，实现用户需求的精准抽象与语义转译；随后结合多智能体协同决策机制，推动算网各子模块间的状态融合与策略联动优化；最终实现面向多元业务的智能管控闭环、自适应服务部署与系统持续演进能力的提升。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综上</a:t>
            </a:r>
            <a:r>
              <a:rPr lang="en-US" altLang="zh-CN"/>
              <a:t>，</a:t>
            </a:r>
            <a:r>
              <a:rPr lang="zh-CN" altLang="en-US"/>
              <a:t>本项目</a:t>
            </a:r>
            <a:r>
              <a:rPr lang="zh-CN" altLang="en-US"/>
              <a:t>围绕异构任务的高效调度与用户意图驱动的智能管控，系统研究算网资源协同机制与多模块协同智能策略，实现算力网络的高效运行与自适应服务能力提升。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本项目围绕算力协同与智能管控两大核心问题，</a:t>
            </a:r>
            <a:endParaRPr lang="zh-CN" altLang="en-US"/>
          </a:p>
          <a:p>
            <a:r>
              <a:rPr lang="zh-CN" altLang="en-US"/>
              <a:t>分别从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sym typeface="+mn-ea"/>
              </a:rPr>
              <a:t>面向异质任务的算力协同调度机制研究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sym typeface="+mn-ea"/>
              </a:rPr>
              <a:t>、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sym typeface="+mn-ea"/>
              </a:rPr>
              <a:t>基于意图驱动的智能管控机制设计和统一验证平台构建与系统评估</a:t>
            </a:r>
            <a:r>
              <a:rPr lang="zh-CN" altLang="en-US"/>
              <a:t>三个方面开展研究，</a:t>
            </a:r>
            <a:endParaRPr lang="zh-CN" altLang="en-US"/>
          </a:p>
          <a:p>
            <a:r>
              <a:rPr lang="zh-CN" altLang="en-US"/>
              <a:t>在理论框架、建模方法、算法机制与系统实现方面均具备较强的原创性与工程应用价值，预期将为智能化、服务化算力网络体系的构建提供有力支撑。</a:t>
            </a:r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在研究基础方面</a:t>
            </a:r>
            <a:r>
              <a:rPr lang="en-US" altLang="zh-CN"/>
              <a:t>，</a:t>
            </a:r>
            <a:r>
              <a:rPr lang="zh-CN" altLang="en-US"/>
              <a:t>目前已顺利发表</a:t>
            </a:r>
            <a:r>
              <a:rPr lang="en-US" altLang="zh-CN"/>
              <a:t>4</a:t>
            </a:r>
            <a:r>
              <a:rPr lang="zh-CN" altLang="en-US"/>
              <a:t>篇</a:t>
            </a:r>
            <a:r>
              <a:rPr lang="en-US" altLang="zh-CN"/>
              <a:t>SCI</a:t>
            </a:r>
            <a:r>
              <a:rPr lang="zh-CN" altLang="en-US"/>
              <a:t>期刊</a:t>
            </a:r>
            <a:r>
              <a:rPr lang="en-US" altLang="zh-CN"/>
              <a:t>，3</a:t>
            </a:r>
            <a:r>
              <a:rPr lang="zh-CN" altLang="en-US"/>
              <a:t>篇</a:t>
            </a:r>
            <a:r>
              <a:rPr lang="en-US" altLang="zh-CN"/>
              <a:t>EI</a:t>
            </a:r>
            <a:r>
              <a:rPr lang="zh-CN" altLang="en-US"/>
              <a:t>会议</a:t>
            </a:r>
            <a:r>
              <a:rPr lang="en-US" altLang="zh-CN"/>
              <a:t>，</a:t>
            </a:r>
            <a:r>
              <a:rPr lang="zh-CN" altLang="en-US"/>
              <a:t>其中有</a:t>
            </a:r>
            <a:r>
              <a:rPr lang="en-US" altLang="zh-CN"/>
              <a:t>5</a:t>
            </a:r>
            <a:r>
              <a:rPr lang="zh-CN" altLang="en-US"/>
              <a:t>篇均为第一作者或学生一作</a:t>
            </a:r>
            <a:r>
              <a:rPr lang="en-US" altLang="zh-CN"/>
              <a:t>，2</a:t>
            </a:r>
            <a:r>
              <a:rPr lang="zh-CN" altLang="en-US"/>
              <a:t>篇为指导实验室师弟师妹输出的成果</a:t>
            </a:r>
            <a:r>
              <a:rPr lang="en-US" altLang="zh-CN"/>
              <a:t>，</a:t>
            </a:r>
            <a:r>
              <a:rPr lang="zh-CN" altLang="en-US"/>
              <a:t>此外还有</a:t>
            </a:r>
            <a:r>
              <a:rPr lang="en-US" altLang="zh-CN"/>
              <a:t>2</a:t>
            </a:r>
            <a:r>
              <a:rPr lang="zh-CN" altLang="en-US"/>
              <a:t>篇文章在投</a:t>
            </a:r>
            <a:r>
              <a:rPr lang="en-US" altLang="zh-CN"/>
              <a:t>，</a:t>
            </a:r>
            <a:r>
              <a:rPr lang="zh-CN" altLang="en-US"/>
              <a:t>投稿期刊为</a:t>
            </a:r>
            <a:r>
              <a:rPr lang="en-US" altLang="zh-CN"/>
              <a:t>TMC</a:t>
            </a:r>
            <a:r>
              <a:rPr lang="zh-CN" altLang="en-US"/>
              <a:t>及通信学报</a:t>
            </a:r>
            <a:r>
              <a:rPr lang="en-US" altLang="zh-CN"/>
              <a:t>。</a:t>
            </a:r>
            <a:endParaRPr lang="en-US" altLang="zh-CN"/>
          </a:p>
          <a:p>
            <a:r>
              <a:rPr lang="zh-CN" altLang="en-US"/>
              <a:t>此外</a:t>
            </a:r>
            <a:r>
              <a:rPr lang="en-US" altLang="zh-CN"/>
              <a:t>，</a:t>
            </a:r>
            <a:r>
              <a:rPr lang="zh-CN" altLang="en-US"/>
              <a:t>在多个项目与</a:t>
            </a:r>
            <a:r>
              <a:rPr lang="zh-CN" altLang="en-US"/>
              <a:t>课题支持下</a:t>
            </a:r>
            <a:r>
              <a:rPr lang="en-US" altLang="zh-CN"/>
              <a:t>，</a:t>
            </a:r>
            <a:r>
              <a:rPr lang="zh-CN" altLang="en-US"/>
              <a:t>共申请</a:t>
            </a:r>
            <a:r>
              <a:rPr lang="en-US" altLang="zh-CN"/>
              <a:t>12</a:t>
            </a:r>
            <a:r>
              <a:rPr lang="zh-CN" altLang="en-US"/>
              <a:t>项国家发明专利</a:t>
            </a:r>
            <a:r>
              <a:rPr lang="en-US" altLang="zh-CN"/>
              <a:t>，</a:t>
            </a:r>
            <a:r>
              <a:rPr lang="zh-CN" altLang="en-US"/>
              <a:t>其中有</a:t>
            </a:r>
            <a:r>
              <a:rPr lang="en-US" altLang="zh-CN"/>
              <a:t>4</a:t>
            </a:r>
            <a:r>
              <a:rPr lang="zh-CN" altLang="en-US"/>
              <a:t>项为学生第一发明人</a:t>
            </a:r>
            <a:r>
              <a:rPr lang="en-US" altLang="zh-CN"/>
              <a:t>。</a:t>
            </a:r>
            <a:endParaRPr lang="en-US" altLang="zh-CN"/>
          </a:p>
          <a:p>
            <a:r>
              <a:rPr lang="zh-CN" altLang="en-US"/>
              <a:t>在创新竞赛方面</a:t>
            </a:r>
            <a:r>
              <a:rPr lang="en-US" altLang="zh-CN"/>
              <a:t>，</a:t>
            </a:r>
            <a:r>
              <a:rPr lang="zh-CN" altLang="en-US"/>
              <a:t>积极参与互联网</a:t>
            </a:r>
            <a:r>
              <a:rPr lang="en-US" altLang="zh-CN"/>
              <a:t>+、</a:t>
            </a:r>
            <a:r>
              <a:rPr lang="zh-CN" altLang="en-US"/>
              <a:t>大创</a:t>
            </a:r>
            <a:r>
              <a:rPr lang="en-US" altLang="zh-CN"/>
              <a:t>、</a:t>
            </a:r>
            <a:r>
              <a:rPr lang="zh-CN" altLang="en-US"/>
              <a:t>网络技术挑战等赛事</a:t>
            </a:r>
            <a:r>
              <a:rPr lang="en-US" altLang="zh-CN"/>
              <a:t>，</a:t>
            </a:r>
            <a:r>
              <a:rPr lang="zh-CN" altLang="en-US"/>
              <a:t>并取得了优异成绩</a:t>
            </a:r>
            <a:r>
              <a:rPr lang="en-US" altLang="zh-CN"/>
              <a:t>。</a:t>
            </a:r>
            <a:endParaRPr lang="en-US" altLang="zh-CN"/>
          </a:p>
          <a:p>
            <a:r>
              <a:rPr lang="zh-CN" altLang="en-US"/>
              <a:t>以上研究均围绕算力网络展开</a:t>
            </a:r>
            <a:r>
              <a:rPr lang="en-US" altLang="zh-CN"/>
              <a:t>，</a:t>
            </a:r>
            <a:r>
              <a:rPr lang="zh-CN" altLang="en-US"/>
              <a:t>为本研究奠定了扎实基础</a:t>
            </a:r>
            <a:r>
              <a:rPr lang="en-US" altLang="zh-CN"/>
              <a:t>。</a:t>
            </a:r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本项目预期输出多项成果</a:t>
            </a:r>
            <a:r>
              <a:rPr lang="en-US" altLang="zh-CN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，</a:t>
            </a:r>
            <a:r>
              <a:rPr lang="zh-CN" altLang="en-US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包括</a:t>
            </a:r>
            <a:r>
              <a:rPr lang="en-US" altLang="zh-CN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：</a:t>
            </a:r>
            <a:endParaRPr lang="en-US" altLang="zh-CN" kern="1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endParaRPr lang="en-US" altLang="zh-CN" kern="1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r>
              <a:rPr lang="zh-CN" altLang="en-US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进度上按照两个研究内容稳步推进</a:t>
            </a:r>
            <a:r>
              <a:rPr lang="en-US" altLang="zh-CN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，</a:t>
            </a:r>
            <a:r>
              <a:rPr lang="zh-CN" altLang="en-US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并及时输出相关成果</a:t>
            </a:r>
            <a:r>
              <a:rPr lang="en-US" altLang="zh-CN" kern="1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。</a:t>
            </a:r>
            <a:endParaRPr lang="en-US" altLang="zh-CN" kern="1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>
                <a:sym typeface="+mn-ea"/>
              </a:rPr>
              <a:t>我的介绍到此结束，恳请各位老师批评指正。</a:t>
            </a:r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4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tags" Target="../tags/tag65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矩形 4"/>
          <p:cNvSpPr/>
          <p:nvPr/>
        </p:nvSpPr>
        <p:spPr>
          <a:xfrm>
            <a:off x="1905" y="1312545"/>
            <a:ext cx="12190730" cy="4037965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3175" y="2273300"/>
            <a:ext cx="12189460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4000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面向端侧大模型推理的</a:t>
            </a:r>
            <a:endParaRPr lang="zh-CN" altLang="en-US" sz="4000" b="1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en-US" altLang="zh-CN" sz="4000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HiCache</a:t>
            </a:r>
            <a:r>
              <a:rPr lang="zh-CN" altLang="en-US" sz="4000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架构适配与</a:t>
            </a:r>
            <a:r>
              <a:rPr lang="zh-CN" altLang="en-US" sz="4000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缓存调度研究</a:t>
            </a:r>
            <a:endParaRPr lang="zh-CN" altLang="en-US" sz="4000" b="1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810" y="3817620"/>
            <a:ext cx="1218755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2400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许世鹏</a:t>
            </a:r>
            <a:endParaRPr lang="zh-CN" altLang="en-US" sz="2400" b="1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/>
            <a:endParaRPr lang="zh-CN" altLang="en-US" sz="2400" b="1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/>
            <a:r>
              <a:rPr lang="en-US" altLang="zh-CN" sz="2400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</a:t>
            </a:r>
            <a:r>
              <a:rPr lang="zh-CN" altLang="en-US" sz="2400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年</a:t>
            </a:r>
            <a:r>
              <a:rPr lang="en-US" altLang="zh-CN" sz="2400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10</a:t>
            </a:r>
            <a:r>
              <a:rPr lang="zh-CN" altLang="en-US" sz="2400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月</a:t>
            </a:r>
            <a:endParaRPr lang="zh-CN" altLang="en-US" sz="2400" b="1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圆角矩形 104"/>
          <p:cNvSpPr/>
          <p:nvPr/>
        </p:nvSpPr>
        <p:spPr>
          <a:xfrm>
            <a:off x="173990" y="842645"/>
            <a:ext cx="11847195" cy="1243965"/>
          </a:xfrm>
          <a:prstGeom prst="roundRect">
            <a:avLst/>
          </a:prstGeom>
          <a:solidFill>
            <a:srgbClr val="000000">
              <a:alpha val="0"/>
            </a:srgbClr>
          </a:solidFill>
          <a:ln w="19050" cap="flat" cmpd="sng">
            <a:solidFill>
              <a:schemeClr val="accent1">
                <a:lumMod val="50000"/>
              </a:schemeClr>
            </a:solidFill>
            <a:prstDash val="dash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73990" y="885825"/>
            <a:ext cx="11847195" cy="1177925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wrap="square" rtlCol="0">
            <a:noAutofit/>
          </a:bodyPr>
          <a:p>
            <a:pPr algn="ctr"/>
            <a:r>
              <a:rPr lang="zh-CN" altLang="en-US" sz="2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在端侧场景中，多次请求往往</a:t>
            </a:r>
            <a:r>
              <a:rPr lang="zh-CN" altLang="en-US" sz="2400" b="1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包含相同的系统提示词和文档</a:t>
            </a:r>
            <a:r>
              <a:rPr lang="zh-CN" altLang="en-US" sz="2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，只有具体问题不同。每次都重新计算这段</a:t>
            </a:r>
            <a:r>
              <a:rPr lang="zh-CN" altLang="en-US" sz="2400" b="1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公共前缀的</a:t>
            </a:r>
            <a:r>
              <a:rPr lang="en-US" altLang="zh-CN" sz="2400" b="1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KV</a:t>
            </a:r>
            <a:r>
              <a:rPr lang="zh-CN" altLang="en-US" sz="2400" b="1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缓存</a:t>
            </a:r>
            <a:r>
              <a:rPr lang="zh-CN" altLang="en-US" sz="2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，会增加</a:t>
            </a:r>
            <a:r>
              <a:rPr lang="en-US" altLang="zh-CN" sz="2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Prefill</a:t>
            </a:r>
            <a:r>
              <a:rPr lang="zh-CN" altLang="en-US" sz="2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耗时，拖慢首个</a:t>
            </a:r>
            <a:r>
              <a:rPr lang="en-US" altLang="zh-CN" sz="2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token</a:t>
            </a:r>
            <a:r>
              <a:rPr lang="zh-CN" altLang="en-US" sz="2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的响应时间（</a:t>
            </a:r>
            <a:r>
              <a:rPr lang="en-US" altLang="zh-CN" sz="2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TTFT）。</a:t>
            </a:r>
            <a:endParaRPr lang="en-US" altLang="zh-CN" sz="24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93675" y="5953760"/>
            <a:ext cx="11826875" cy="82994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 anchor="t">
            <a:spAutoFit/>
          </a:bodyPr>
          <a:p>
            <a:pPr algn="l">
              <a:defRPr sz="1875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给定相同token前缀，系统应当直接复用RAM、从SSD加载，还是重新计算？</a:t>
            </a:r>
            <a:endParaRPr sz="2400" b="1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>
              <a:defRPr sz="1875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0">
                <a:sym typeface="+mn-ea"/>
              </a:rPr>
              <a:t>检查正确性、峰值内存与后台I/O干扰</a:t>
            </a:r>
            <a:endParaRPr lang="en-US" altLang="zh-CN" sz="24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106" name="矩形 105"/>
          <p:cNvSpPr/>
          <p:nvPr/>
        </p:nvSpPr>
        <p:spPr>
          <a:xfrm>
            <a:off x="-5080" y="-13970"/>
            <a:ext cx="12219940" cy="662940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3200" b="1">
                <a:latin typeface="微软雅黑" panose="020B0503020204020204" charset="-122"/>
                <a:ea typeface="微软雅黑" panose="020B0503020204020204" charset="-122"/>
              </a:rPr>
              <a:t>研究背景</a:t>
            </a:r>
            <a:r>
              <a:rPr lang="en-US" altLang="zh-CN" sz="3200">
                <a:latin typeface="微软雅黑" panose="020B0503020204020204" charset="-122"/>
                <a:ea typeface="微软雅黑" panose="020B0503020204020204" charset="-122"/>
              </a:rPr>
              <a:t>｜</a:t>
            </a:r>
            <a:r>
              <a:rPr lang="zh-CN" altLang="en-US" sz="3200">
                <a:latin typeface="微软雅黑" panose="020B0503020204020204" charset="-122"/>
                <a:ea typeface="微软雅黑" panose="020B0503020204020204" charset="-122"/>
              </a:rPr>
              <a:t>研究内容</a:t>
            </a:r>
            <a:r>
              <a:rPr lang="en-US" altLang="zh-CN" sz="3200">
                <a:latin typeface="微软雅黑" panose="020B0503020204020204" charset="-122"/>
                <a:ea typeface="微软雅黑" panose="020B0503020204020204" charset="-122"/>
              </a:rPr>
              <a:t>｜</a:t>
            </a:r>
            <a:r>
              <a:rPr lang="zh-CN" altLang="en-US" sz="3200">
                <a:latin typeface="微软雅黑" panose="020B0503020204020204" charset="-122"/>
                <a:ea typeface="微软雅黑" panose="020B0503020204020204" charset="-122"/>
              </a:rPr>
              <a:t>技术路线</a:t>
            </a:r>
            <a:r>
              <a:rPr lang="en-US" altLang="zh-CN" sz="3200">
                <a:latin typeface="微软雅黑" panose="020B0503020204020204" charset="-122"/>
                <a:ea typeface="微软雅黑" panose="020B0503020204020204" charset="-122"/>
              </a:rPr>
              <a:t>｜</a:t>
            </a:r>
            <a:r>
              <a:rPr lang="zh-CN" altLang="en-US" sz="3200">
                <a:latin typeface="微软雅黑" panose="020B0503020204020204" charset="-122"/>
                <a:ea typeface="微软雅黑" panose="020B0503020204020204" charset="-122"/>
              </a:rPr>
              <a:t>研究基础</a:t>
            </a:r>
            <a:r>
              <a:rPr lang="en-US" altLang="zh-CN" sz="3200">
                <a:latin typeface="微软雅黑" panose="020B0503020204020204" charset="-122"/>
                <a:ea typeface="微软雅黑" panose="020B0503020204020204" charset="-122"/>
              </a:rPr>
              <a:t>｜</a:t>
            </a:r>
            <a:r>
              <a:rPr lang="zh-CN" altLang="en-US" sz="3200">
                <a:latin typeface="微软雅黑" panose="020B0503020204020204" charset="-122"/>
                <a:ea typeface="微软雅黑" panose="020B0503020204020204" charset="-122"/>
              </a:rPr>
              <a:t>预期成果</a:t>
            </a:r>
            <a:endParaRPr lang="zh-CN" altLang="en-US" sz="32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7" name="圆角矩形 106"/>
          <p:cNvSpPr/>
          <p:nvPr/>
        </p:nvSpPr>
        <p:spPr>
          <a:xfrm>
            <a:off x="1050925" y="85725"/>
            <a:ext cx="1903095" cy="46101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3200" b="1">
                <a:solidFill>
                  <a:schemeClr val="accent1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研究背景</a:t>
            </a:r>
            <a:endParaRPr lang="zh-CN" altLang="en-US" sz="3200" b="1">
              <a:solidFill>
                <a:schemeClr val="accent1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295275" y="2738120"/>
            <a:ext cx="5857875" cy="2628900"/>
          </a:xfrm>
          <a:prstGeom prst="rect">
            <a:avLst/>
          </a:prstGeom>
          <a:solidFill>
            <a:srgbClr val="FFFFFF"/>
          </a:solidFill>
          <a:ln w="14288">
            <a:solidFill>
              <a:srgbClr val="151515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476250" y="2852420"/>
            <a:ext cx="247650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固定输入模板</a:t>
            </a:r>
            <a:endParaRPr sz="1725" b="1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552450" y="3452495"/>
            <a:ext cx="2362200" cy="981075"/>
          </a:xfrm>
          <a:prstGeom prst="rect">
            <a:avLst/>
          </a:prstGeom>
          <a:solidFill>
            <a:srgbClr val="FFFFFF"/>
          </a:solidFill>
          <a:ln w="15240">
            <a:solidFill>
              <a:srgbClr val="151515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47700" y="3509645"/>
            <a:ext cx="2171700" cy="866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系统提示词＋设备手册</a:t>
            </a:r>
            <a:endParaRPr sz="1500" b="1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500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＋固定分隔符</a:t>
            </a:r>
            <a:endParaRPr sz="1500" b="1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3562350" y="3204845"/>
            <a:ext cx="2266950" cy="723900"/>
          </a:xfrm>
          <a:prstGeom prst="rect">
            <a:avLst/>
          </a:prstGeom>
          <a:solidFill>
            <a:srgbClr val="FFFFFF"/>
          </a:solidFill>
          <a:ln w="15240">
            <a:solidFill>
              <a:srgbClr val="151515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3657600" y="3261995"/>
            <a:ext cx="207645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ctr">
              <a:def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问题A</a:t>
            </a:r>
            <a:endParaRPr sz="142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故障码E17如何处理？</a:t>
            </a:r>
            <a:endParaRPr sz="142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3562350" y="4166870"/>
            <a:ext cx="2266950" cy="723900"/>
          </a:xfrm>
          <a:prstGeom prst="rect">
            <a:avLst/>
          </a:prstGeom>
          <a:solidFill>
            <a:srgbClr val="FFFFFF"/>
          </a:solidFill>
          <a:ln w="15240">
            <a:solidFill>
              <a:srgbClr val="151515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3657600" y="4224020"/>
            <a:ext cx="207645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ctr">
              <a:def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问题B</a:t>
            </a:r>
            <a:endParaRPr sz="142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处理后检查哪些传感器？</a:t>
            </a:r>
            <a:endParaRPr sz="142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53" name="直接箭头连接符 52"/>
          <p:cNvCxnSpPr>
            <a:stCxn id="15" idx="3"/>
            <a:endCxn id="17" idx="1"/>
          </p:cNvCxnSpPr>
          <p:nvPr/>
        </p:nvCxnSpPr>
        <p:spPr>
          <a:xfrm flipV="1">
            <a:off x="2914650" y="3566795"/>
            <a:ext cx="647700" cy="376238"/>
          </a:xfrm>
          <a:prstGeom prst="straightConnector1">
            <a:avLst/>
          </a:prstGeom>
          <a:ln w="15240">
            <a:solidFill>
              <a:srgbClr val="151515"/>
            </a:solidFill>
            <a:prstDash val="solid"/>
            <a:tailEnd type="triangle" w="sm" len="sm"/>
          </a:ln>
        </p:spPr>
      </p:cxnSp>
      <p:cxnSp>
        <p:nvCxnSpPr>
          <p:cNvPr id="54" name="直接箭头连接符 53"/>
          <p:cNvCxnSpPr>
            <a:stCxn id="15" idx="3"/>
            <a:endCxn id="19" idx="1"/>
          </p:cNvCxnSpPr>
          <p:nvPr/>
        </p:nvCxnSpPr>
        <p:spPr>
          <a:xfrm>
            <a:off x="2914650" y="3943033"/>
            <a:ext cx="647700" cy="585788"/>
          </a:xfrm>
          <a:prstGeom prst="straightConnector1">
            <a:avLst/>
          </a:prstGeom>
          <a:ln w="15240">
            <a:solidFill>
              <a:srgbClr val="151515"/>
            </a:solidFill>
            <a:prstDash val="solid"/>
            <a:tailEnd type="triangle" w="sm" len="sm"/>
          </a:ln>
        </p:spPr>
      </p:cxnSp>
      <p:sp>
        <p:nvSpPr>
          <p:cNvPr id="23" name="矩形 22"/>
          <p:cNvSpPr>
            <a:spLocks noGrp="1"/>
          </p:cNvSpPr>
          <p:nvPr/>
        </p:nvSpPr>
        <p:spPr>
          <a:xfrm>
            <a:off x="514350" y="4957445"/>
            <a:ext cx="541020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公共前缀的KV仅需计算一次，问题部分各自继续Prefill。</a:t>
            </a:r>
            <a:endParaRPr sz="1350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534150" y="2738120"/>
            <a:ext cx="5019675" cy="2628900"/>
          </a:xfrm>
          <a:prstGeom prst="rect">
            <a:avLst/>
          </a:prstGeom>
          <a:solidFill>
            <a:srgbClr val="FFFFFF"/>
          </a:solidFill>
          <a:ln w="14288">
            <a:solidFill>
              <a:srgbClr val="151515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6734175" y="2852420"/>
            <a:ext cx="452437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端侧与云侧的关键差别</a:t>
            </a:r>
            <a:endParaRPr sz="1725" b="1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753225" y="3376295"/>
            <a:ext cx="4467225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无独立GPU：模型权重与活动KV共用RAM。</a:t>
            </a:r>
            <a:endParaRPr sz="142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753225" y="4023995"/>
            <a:ext cx="4467225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历史KV在SSD：命中后仍需读取和恢复。</a:t>
            </a:r>
            <a:endParaRPr sz="142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753225" y="4671695"/>
            <a:ext cx="4467225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共享CPU与内存带宽：读取可能慢于重算。</a:t>
            </a:r>
            <a:endParaRPr sz="142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矩形 105"/>
          <p:cNvSpPr/>
          <p:nvPr/>
        </p:nvSpPr>
        <p:spPr>
          <a:xfrm>
            <a:off x="-5080" y="-13970"/>
            <a:ext cx="12219940" cy="702310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3200">
                <a:latin typeface="微软雅黑" panose="020B0503020204020204" charset="-122"/>
                <a:ea typeface="微软雅黑" panose="020B0503020204020204" charset="-122"/>
              </a:rPr>
              <a:t>研究背景</a:t>
            </a:r>
            <a:r>
              <a:rPr lang="en-US" altLang="zh-CN" sz="3200">
                <a:latin typeface="微软雅黑" panose="020B0503020204020204" charset="-122"/>
                <a:ea typeface="微软雅黑" panose="020B0503020204020204" charset="-122"/>
              </a:rPr>
              <a:t>｜</a:t>
            </a:r>
            <a:r>
              <a:rPr lang="zh-CN" altLang="en-US" sz="3200">
                <a:latin typeface="微软雅黑" panose="020B0503020204020204" charset="-122"/>
                <a:ea typeface="微软雅黑" panose="020B0503020204020204" charset="-122"/>
              </a:rPr>
              <a:t>研究内容</a:t>
            </a:r>
            <a:r>
              <a:rPr lang="en-US" altLang="zh-CN" sz="3200">
                <a:latin typeface="微软雅黑" panose="020B0503020204020204" charset="-122"/>
                <a:ea typeface="微软雅黑" panose="020B0503020204020204" charset="-122"/>
              </a:rPr>
              <a:t>｜</a:t>
            </a:r>
            <a:r>
              <a:rPr lang="zh-CN" altLang="en-US" sz="3200">
                <a:latin typeface="微软雅黑" panose="020B0503020204020204" charset="-122"/>
                <a:ea typeface="微软雅黑" panose="020B0503020204020204" charset="-122"/>
              </a:rPr>
              <a:t>技术路线</a:t>
            </a:r>
            <a:r>
              <a:rPr lang="en-US" altLang="zh-CN" sz="3200">
                <a:latin typeface="微软雅黑" panose="020B0503020204020204" charset="-122"/>
                <a:ea typeface="微软雅黑" panose="020B0503020204020204" charset="-122"/>
              </a:rPr>
              <a:t>｜</a:t>
            </a:r>
            <a:r>
              <a:rPr lang="zh-CN" altLang="en-US" sz="3200">
                <a:latin typeface="微软雅黑" panose="020B0503020204020204" charset="-122"/>
                <a:ea typeface="微软雅黑" panose="020B0503020204020204" charset="-122"/>
              </a:rPr>
              <a:t>研究基础</a:t>
            </a:r>
            <a:r>
              <a:rPr lang="en-US" altLang="zh-CN" sz="3200">
                <a:latin typeface="微软雅黑" panose="020B0503020204020204" charset="-122"/>
                <a:ea typeface="微软雅黑" panose="020B0503020204020204" charset="-122"/>
              </a:rPr>
              <a:t>｜</a:t>
            </a:r>
            <a:r>
              <a:rPr lang="zh-CN" altLang="en-US" sz="3200">
                <a:latin typeface="微软雅黑" panose="020B0503020204020204" charset="-122"/>
                <a:ea typeface="微软雅黑" panose="020B0503020204020204" charset="-122"/>
              </a:rPr>
              <a:t>预期成果</a:t>
            </a:r>
            <a:endParaRPr lang="zh-CN" altLang="en-US" sz="32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7" name="圆角矩形 106"/>
          <p:cNvSpPr/>
          <p:nvPr/>
        </p:nvSpPr>
        <p:spPr>
          <a:xfrm>
            <a:off x="3112770" y="85725"/>
            <a:ext cx="1903095" cy="46101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3200" b="1">
                <a:solidFill>
                  <a:schemeClr val="accent1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研究</a:t>
            </a:r>
            <a:r>
              <a:rPr lang="zh-CN" altLang="en-US" sz="3200" b="1">
                <a:solidFill>
                  <a:schemeClr val="accent1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内容</a:t>
            </a:r>
            <a:endParaRPr lang="zh-CN" altLang="en-US" sz="3200" b="1">
              <a:solidFill>
                <a:schemeClr val="accent1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23875" y="742950"/>
            <a:ext cx="11144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2475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75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研究内容：CPU-only前缀KV复用与读算选择</a:t>
            </a:r>
            <a:endParaRPr sz="2475" b="1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5" name="图片 24" descr="CPU-only.drawi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875" y="1701800"/>
            <a:ext cx="8538210" cy="2857500"/>
          </a:xfrm>
          <a:prstGeom prst="rect">
            <a:avLst/>
          </a:prstGeom>
        </p:spPr>
      </p:pic>
      <p:sp>
        <p:nvSpPr>
          <p:cNvPr id="32" name="矩形 31"/>
          <p:cNvSpPr>
            <a:spLocks noGrp="1"/>
          </p:cNvSpPr>
          <p:nvPr/>
        </p:nvSpPr>
        <p:spPr>
          <a:xfrm>
            <a:off x="523875" y="5238750"/>
            <a:ext cx="10620375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575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RAM命中：直接复用　　SSD命中：比较恢复与重算　　未命中：重算</a:t>
            </a:r>
            <a:endParaRPr sz="1600" b="1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8214995" y="3028950"/>
            <a:ext cx="3790950" cy="3829050"/>
          </a:xfrm>
          <a:prstGeom prst="rect">
            <a:avLst/>
          </a:prstGeom>
          <a:solidFill>
            <a:srgbClr val="FFFFFF"/>
          </a:solidFill>
          <a:ln w="14288">
            <a:solidFill>
              <a:srgbClr val="151515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8405495" y="3152775"/>
            <a:ext cx="33909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31569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31569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三个研究任务</a:t>
            </a:r>
            <a:endParaRPr sz="1725" b="1">
              <a:solidFill>
                <a:srgbClr val="31569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8405495" y="3562350"/>
            <a:ext cx="33528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 状态能否正确恢复</a:t>
            </a:r>
            <a:endParaRPr sz="1500" b="1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8405495" y="3905250"/>
            <a:ext cx="3352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lnSpcReduction="10000"/>
          </a:bodyPr>
          <a:lstStyle/>
          <a:p>
            <a:pPr algn="l">
              <a:def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实现前缀匹配和KV保存、导入，</a:t>
            </a:r>
            <a:endParaRPr sz="127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用同一输入的logits对照验证。</a:t>
            </a:r>
            <a:endParaRPr sz="127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8405495" y="4524375"/>
            <a:ext cx="33528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  读取何时快于重算</a:t>
            </a:r>
            <a:endParaRPr sz="1500" b="1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8405495" y="4876800"/>
            <a:ext cx="335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测SSD读取与恢复、CPU Prefill耗时，</a:t>
            </a:r>
            <a:endParaRPr sz="127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同时检查RAM能否容纳所需状态。</a:t>
            </a:r>
            <a:endParaRPr sz="127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8405495" y="5638800"/>
            <a:ext cx="33528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  预取与写入怎样干扰请求</a:t>
            </a:r>
            <a:endParaRPr sz="1500" b="1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8405495" y="6000750"/>
            <a:ext cx="33528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比较等待策略，限制后台写入占用，</a:t>
            </a:r>
            <a:endParaRPr sz="127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观察前台TTFT与I/O竞争。</a:t>
            </a:r>
            <a:endParaRPr sz="127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矩形 105"/>
          <p:cNvSpPr/>
          <p:nvPr/>
        </p:nvSpPr>
        <p:spPr>
          <a:xfrm>
            <a:off x="-5080" y="-13970"/>
            <a:ext cx="12219940" cy="702310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3200" b="1">
                <a:latin typeface="微软雅黑" panose="020B0503020204020204" charset="-122"/>
                <a:ea typeface="微软雅黑" panose="020B0503020204020204" charset="-122"/>
              </a:rPr>
              <a:t>研究背景</a:t>
            </a:r>
            <a:r>
              <a:rPr lang="en-US" altLang="zh-CN" sz="3200" b="1">
                <a:latin typeface="微软雅黑" panose="020B0503020204020204" charset="-122"/>
                <a:ea typeface="微软雅黑" panose="020B0503020204020204" charset="-122"/>
              </a:rPr>
              <a:t>｜</a:t>
            </a:r>
            <a:r>
              <a:rPr lang="zh-CN" altLang="en-US" sz="3200" b="1">
                <a:latin typeface="微软雅黑" panose="020B0503020204020204" charset="-122"/>
                <a:ea typeface="微软雅黑" panose="020B0503020204020204" charset="-122"/>
              </a:rPr>
              <a:t>研究内容</a:t>
            </a:r>
            <a:r>
              <a:rPr lang="en-US" altLang="zh-CN" sz="3200" b="1">
                <a:latin typeface="微软雅黑" panose="020B0503020204020204" charset="-122"/>
                <a:ea typeface="微软雅黑" panose="020B0503020204020204" charset="-122"/>
              </a:rPr>
              <a:t>｜</a:t>
            </a:r>
            <a:r>
              <a:rPr lang="zh-CN" altLang="en-US" sz="3200" b="1">
                <a:latin typeface="微软雅黑" panose="020B0503020204020204" charset="-122"/>
                <a:ea typeface="微软雅黑" panose="020B0503020204020204" charset="-122"/>
              </a:rPr>
              <a:t>技术路线</a:t>
            </a:r>
            <a:r>
              <a:rPr lang="en-US" altLang="zh-CN" sz="3200" b="1">
                <a:latin typeface="微软雅黑" panose="020B0503020204020204" charset="-122"/>
                <a:ea typeface="微软雅黑" panose="020B0503020204020204" charset="-122"/>
              </a:rPr>
              <a:t>｜</a:t>
            </a:r>
            <a:r>
              <a:rPr lang="zh-CN" altLang="en-US" sz="3200" b="1">
                <a:latin typeface="微软雅黑" panose="020B0503020204020204" charset="-122"/>
                <a:ea typeface="微软雅黑" panose="020B0503020204020204" charset="-122"/>
              </a:rPr>
              <a:t>研究基础</a:t>
            </a:r>
            <a:r>
              <a:rPr lang="en-US" altLang="zh-CN" sz="3200" b="1">
                <a:latin typeface="微软雅黑" panose="020B0503020204020204" charset="-122"/>
                <a:ea typeface="微软雅黑" panose="020B0503020204020204" charset="-122"/>
              </a:rPr>
              <a:t>｜</a:t>
            </a:r>
            <a:r>
              <a:rPr lang="zh-CN" altLang="en-US" sz="3200" b="1">
                <a:latin typeface="微软雅黑" panose="020B0503020204020204" charset="-122"/>
                <a:ea typeface="微软雅黑" panose="020B0503020204020204" charset="-122"/>
              </a:rPr>
              <a:t>预期成果</a:t>
            </a:r>
            <a:endParaRPr lang="zh-CN" altLang="en-US" sz="3200" b="1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7" name="圆角矩形 106"/>
          <p:cNvSpPr/>
          <p:nvPr/>
        </p:nvSpPr>
        <p:spPr>
          <a:xfrm>
            <a:off x="5144135" y="85725"/>
            <a:ext cx="1903095" cy="46101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3200" b="1">
                <a:solidFill>
                  <a:schemeClr val="accent1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技术路线</a:t>
            </a:r>
            <a:endParaRPr lang="zh-CN" altLang="en-US" sz="3200" b="1">
              <a:solidFill>
                <a:schemeClr val="accent1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23875" y="742950"/>
            <a:ext cx="11144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2475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75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技术路线：正确性、读算边界、调度对照</a:t>
            </a:r>
            <a:endParaRPr sz="2475" b="1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523875" y="1685925"/>
            <a:ext cx="3333750" cy="952500"/>
          </a:xfrm>
          <a:prstGeom prst="rect">
            <a:avLst/>
          </a:prstGeom>
          <a:solidFill>
            <a:srgbClr val="FFFFFF"/>
          </a:solidFill>
          <a:ln w="15240">
            <a:solidFill>
              <a:srgbClr val="151515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619125" y="1743075"/>
            <a:ext cx="314325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75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阶段1：状态正确性</a:t>
            </a:r>
            <a:endParaRPr sz="1575" b="1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575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KV导出→恢复→继续推理</a:t>
            </a:r>
            <a:endParaRPr sz="1575" b="1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4429125" y="1685925"/>
            <a:ext cx="3333750" cy="952500"/>
          </a:xfrm>
          <a:prstGeom prst="rect">
            <a:avLst/>
          </a:prstGeom>
          <a:solidFill>
            <a:srgbClr val="FFFFFF"/>
          </a:solidFill>
          <a:ln w="15240">
            <a:solidFill>
              <a:srgbClr val="15151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4524375" y="1743075"/>
            <a:ext cx="314325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75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阶段2：读算临界点</a:t>
            </a:r>
            <a:endParaRPr sz="1575" b="1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575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实测SSD恢复与CPU重算</a:t>
            </a:r>
            <a:endParaRPr sz="1575" b="1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8334375" y="1685925"/>
            <a:ext cx="3333750" cy="952500"/>
          </a:xfrm>
          <a:prstGeom prst="rect">
            <a:avLst/>
          </a:prstGeom>
          <a:solidFill>
            <a:srgbClr val="FFFFFF"/>
          </a:solidFill>
          <a:ln w="15240">
            <a:solidFill>
              <a:srgbClr val="151515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8429625" y="1743075"/>
            <a:ext cx="314325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75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阶段3：调度对照</a:t>
            </a:r>
            <a:endParaRPr sz="1575" b="1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575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预取等待与后台写入预算</a:t>
            </a:r>
            <a:endParaRPr sz="1575" b="1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72" name="直接箭头连接符 71"/>
          <p:cNvCxnSpPr>
            <a:stCxn id="16" idx="3"/>
            <a:endCxn id="18" idx="1"/>
          </p:cNvCxnSpPr>
          <p:nvPr/>
        </p:nvCxnSpPr>
        <p:spPr>
          <a:xfrm>
            <a:off x="3857625" y="2162175"/>
            <a:ext cx="571500" cy="0"/>
          </a:xfrm>
          <a:prstGeom prst="straightConnector1">
            <a:avLst/>
          </a:prstGeom>
          <a:ln w="15240">
            <a:solidFill>
              <a:srgbClr val="151515"/>
            </a:solidFill>
            <a:prstDash val="solid"/>
            <a:tailEnd type="triangle" w="sm" len="sm"/>
          </a:ln>
        </p:spPr>
      </p:cxnSp>
      <p:cxnSp>
        <p:nvCxnSpPr>
          <p:cNvPr id="73" name="直接箭头连接符 72"/>
          <p:cNvCxnSpPr>
            <a:stCxn id="18" idx="3"/>
            <a:endCxn id="20" idx="1"/>
          </p:cNvCxnSpPr>
          <p:nvPr/>
        </p:nvCxnSpPr>
        <p:spPr>
          <a:xfrm>
            <a:off x="7762875" y="2162175"/>
            <a:ext cx="571500" cy="0"/>
          </a:xfrm>
          <a:prstGeom prst="straightConnector1">
            <a:avLst/>
          </a:prstGeom>
          <a:ln w="15240">
            <a:solidFill>
              <a:srgbClr val="151515"/>
            </a:solidFill>
            <a:prstDash val="solid"/>
            <a:tailEnd type="triangle" w="sm" len="sm"/>
          </a:ln>
        </p:spPr>
      </p:cxnSp>
      <p:sp>
        <p:nvSpPr>
          <p:cNvPr id="22" name="矩形 21"/>
          <p:cNvSpPr>
            <a:spLocks noGrp="1"/>
          </p:cNvSpPr>
          <p:nvPr/>
        </p:nvSpPr>
        <p:spPr>
          <a:xfrm>
            <a:off x="523875" y="3009900"/>
            <a:ext cx="2238375" cy="4572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23" name="矩形 22"/>
          <p:cNvSpPr>
            <a:spLocks noGrp="1"/>
          </p:cNvSpPr>
          <p:nvPr/>
        </p:nvSpPr>
        <p:spPr>
          <a:xfrm>
            <a:off x="600075" y="3057525"/>
            <a:ext cx="2085975" cy="342900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lIns="0" tIns="0" rIns="0" bIns="0"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实验环节</a:t>
            </a:r>
            <a:endParaRPr sz="1425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2762250" y="3009900"/>
            <a:ext cx="3705225" cy="4572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25" name="矩形 24"/>
          <p:cNvSpPr>
            <a:spLocks noGrp="1"/>
          </p:cNvSpPr>
          <p:nvPr/>
        </p:nvSpPr>
        <p:spPr>
          <a:xfrm>
            <a:off x="2838450" y="3057525"/>
            <a:ext cx="3552825" cy="342900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lIns="0" tIns="0" rIns="0" bIns="0"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操纵变量与对照</a:t>
            </a:r>
            <a:endParaRPr sz="1425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6467475" y="3009900"/>
            <a:ext cx="2533650" cy="4572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27" name="矩形 26"/>
          <p:cNvSpPr>
            <a:spLocks noGrp="1"/>
          </p:cNvSpPr>
          <p:nvPr/>
        </p:nvSpPr>
        <p:spPr>
          <a:xfrm>
            <a:off x="6543675" y="3057525"/>
            <a:ext cx="2381250" cy="342900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lIns="0" tIns="0" rIns="0" bIns="0"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记录指标</a:t>
            </a:r>
            <a:endParaRPr sz="1425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9001125" y="3009900"/>
            <a:ext cx="2667000" cy="4572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29" name="矩形 28"/>
          <p:cNvSpPr>
            <a:spLocks noGrp="1"/>
          </p:cNvSpPr>
          <p:nvPr/>
        </p:nvSpPr>
        <p:spPr>
          <a:xfrm>
            <a:off x="9077325" y="3057525"/>
            <a:ext cx="2514600" cy="342900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lIns="0" tIns="0" rIns="0" bIns="0"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通过条件</a:t>
            </a:r>
            <a:endParaRPr sz="1425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523875" y="3467100"/>
            <a:ext cx="2238375" cy="74295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619125" y="3543300"/>
            <a:ext cx="2047875" cy="581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ctr">
              <a:defRPr sz="1350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恢复正确性</a:t>
            </a:r>
            <a:endParaRPr sz="1350" b="1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2762250" y="3467100"/>
            <a:ext cx="3705225" cy="74295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2857500" y="3543300"/>
            <a:ext cx="3514725" cy="581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同输入：保存恢复 vs 完全重算</a:t>
            </a:r>
            <a:endParaRPr sz="127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6467475" y="3467100"/>
            <a:ext cx="2533650" cy="74295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6562725" y="3543300"/>
            <a:ext cx="2343150" cy="581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logits差异</a:t>
            </a:r>
            <a:endParaRPr sz="127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9001125" y="3467100"/>
            <a:ext cx="2667000" cy="74295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9096375" y="3543300"/>
            <a:ext cx="2476500" cy="581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状态兼容且输出可继续</a:t>
            </a:r>
            <a:endParaRPr sz="127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523875" y="4210050"/>
            <a:ext cx="2238375" cy="74295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619125" y="4286250"/>
            <a:ext cx="2047875" cy="581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ctr">
              <a:defRPr sz="1350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读算边界</a:t>
            </a:r>
            <a:endParaRPr sz="1350" b="1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2762250" y="4210050"/>
            <a:ext cx="3705225" cy="74295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2857500" y="4286250"/>
            <a:ext cx="3514725" cy="581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前缀长度、RAM预算、SSD负载</a:t>
            </a:r>
            <a:endParaRPr sz="127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6467475" y="4210050"/>
            <a:ext cx="2533650" cy="74295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6562725" y="4286250"/>
            <a:ext cx="2343150" cy="581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TTFT、读取字节、峰值RAM</a:t>
            </a:r>
            <a:endParaRPr sz="127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9001125" y="4210050"/>
            <a:ext cx="2667000" cy="74295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9096375" y="4286250"/>
            <a:ext cx="2476500" cy="581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至少存在可重复的获益区间</a:t>
            </a:r>
            <a:endParaRPr sz="127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523875" y="4953000"/>
            <a:ext cx="2238375" cy="74295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619125" y="5029200"/>
            <a:ext cx="2047875" cy="581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ctr">
              <a:defRPr sz="1350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策略比较</a:t>
            </a:r>
            <a:endParaRPr sz="1350" b="1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2762250" y="4953000"/>
            <a:ext cx="3705225" cy="74295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2857500" y="5029200"/>
            <a:ext cx="3514725" cy="581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重算／固定等待／有限等待</a:t>
            </a:r>
            <a:endParaRPr sz="127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0" name="矩形 49"/>
          <p:cNvSpPr>
            <a:spLocks noGrp="1"/>
          </p:cNvSpPr>
          <p:nvPr/>
        </p:nvSpPr>
        <p:spPr>
          <a:xfrm>
            <a:off x="6467475" y="4953000"/>
            <a:ext cx="2533650" cy="74295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1" name="矩形 50"/>
          <p:cNvSpPr>
            <a:spLocks noGrp="1"/>
          </p:cNvSpPr>
          <p:nvPr/>
        </p:nvSpPr>
        <p:spPr>
          <a:xfrm>
            <a:off x="6562725" y="5029200"/>
            <a:ext cx="2343150" cy="581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P50/P95 TTFT、I/O干扰</a:t>
            </a:r>
            <a:endParaRPr sz="127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2" name="矩形 51"/>
          <p:cNvSpPr>
            <a:spLocks noGrp="1"/>
          </p:cNvSpPr>
          <p:nvPr/>
        </p:nvSpPr>
        <p:spPr>
          <a:xfrm>
            <a:off x="9001125" y="4953000"/>
            <a:ext cx="2667000" cy="74295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3" name="矩形 52"/>
          <p:cNvSpPr>
            <a:spLocks noGrp="1"/>
          </p:cNvSpPr>
          <p:nvPr/>
        </p:nvSpPr>
        <p:spPr>
          <a:xfrm>
            <a:off x="9096375" y="5029200"/>
            <a:ext cx="2476500" cy="581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优于合适的固定基线</a:t>
            </a:r>
            <a:endParaRPr sz="127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4" name="矩形 53"/>
          <p:cNvSpPr>
            <a:spLocks noGrp="1"/>
          </p:cNvSpPr>
          <p:nvPr/>
        </p:nvSpPr>
        <p:spPr>
          <a:xfrm>
            <a:off x="542925" y="5848350"/>
            <a:ext cx="11049000" cy="314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1">
                <a:solidFill>
                  <a:srgbClr val="31569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若冷恢复始终慢于重算，则停止冷加载调度优化，转向RAM内复用或写入筛选</a:t>
            </a:r>
            <a:r>
              <a:rPr sz="1425" b="1">
                <a:solidFill>
                  <a:srgbClr val="31569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sz="1425" b="1">
              <a:solidFill>
                <a:srgbClr val="31569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矩形 105"/>
          <p:cNvSpPr/>
          <p:nvPr/>
        </p:nvSpPr>
        <p:spPr>
          <a:xfrm>
            <a:off x="-5080" y="-13970"/>
            <a:ext cx="12219940" cy="702310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3200" b="1">
                <a:latin typeface="PingFang SC Semibold" panose="020B0400000000000000" charset="-122"/>
                <a:ea typeface="PingFang SC Semibold" panose="020B0400000000000000" charset="-122"/>
              </a:rPr>
              <a:t>研究背景</a:t>
            </a:r>
            <a:r>
              <a:rPr lang="en-US" altLang="zh-CN" sz="3200" b="1">
                <a:latin typeface="PingFang SC Semibold" panose="020B0400000000000000" charset="-122"/>
                <a:ea typeface="PingFang SC Semibold" panose="020B0400000000000000" charset="-122"/>
              </a:rPr>
              <a:t>｜</a:t>
            </a:r>
            <a:r>
              <a:rPr lang="zh-CN" altLang="en-US" sz="3200" b="1">
                <a:latin typeface="PingFang SC Semibold" panose="020B0400000000000000" charset="-122"/>
                <a:ea typeface="PingFang SC Semibold" panose="020B0400000000000000" charset="-122"/>
              </a:rPr>
              <a:t>研究内容</a:t>
            </a:r>
            <a:r>
              <a:rPr lang="en-US" altLang="zh-CN" sz="3200" b="1">
                <a:latin typeface="PingFang SC Semibold" panose="020B0400000000000000" charset="-122"/>
                <a:ea typeface="PingFang SC Semibold" panose="020B0400000000000000" charset="-122"/>
              </a:rPr>
              <a:t>｜</a:t>
            </a:r>
            <a:r>
              <a:rPr lang="zh-CN" altLang="en-US" sz="3200" b="1">
                <a:latin typeface="PingFang SC Semibold" panose="020B0400000000000000" charset="-122"/>
                <a:ea typeface="PingFang SC Semibold" panose="020B0400000000000000" charset="-122"/>
              </a:rPr>
              <a:t>技术路线</a:t>
            </a:r>
            <a:r>
              <a:rPr lang="en-US" altLang="zh-CN" sz="3200" b="1">
                <a:latin typeface="PingFang SC Semibold" panose="020B0400000000000000" charset="-122"/>
                <a:ea typeface="PingFang SC Semibold" panose="020B0400000000000000" charset="-122"/>
              </a:rPr>
              <a:t>｜</a:t>
            </a:r>
            <a:r>
              <a:rPr lang="zh-CN" altLang="en-US" sz="3200" b="1">
                <a:latin typeface="PingFang SC Semibold" panose="020B0400000000000000" charset="-122"/>
                <a:ea typeface="PingFang SC Semibold" panose="020B0400000000000000" charset="-122"/>
              </a:rPr>
              <a:t>研究基础</a:t>
            </a:r>
            <a:r>
              <a:rPr lang="en-US" altLang="zh-CN" sz="3200" b="1">
                <a:latin typeface="PingFang SC Semibold" panose="020B0400000000000000" charset="-122"/>
                <a:ea typeface="PingFang SC Semibold" panose="020B0400000000000000" charset="-122"/>
              </a:rPr>
              <a:t>｜</a:t>
            </a:r>
            <a:r>
              <a:rPr lang="zh-CN" altLang="en-US" sz="3200" b="1">
                <a:latin typeface="PingFang SC Semibold" panose="020B0400000000000000" charset="-122"/>
                <a:ea typeface="PingFang SC Semibold" panose="020B0400000000000000" charset="-122"/>
              </a:rPr>
              <a:t>预期成果</a:t>
            </a:r>
            <a:endParaRPr lang="zh-CN" altLang="en-US" sz="3200" b="1">
              <a:latin typeface="PingFang SC Semibold" panose="020B0400000000000000" charset="-122"/>
              <a:ea typeface="PingFang SC Semibold" panose="020B0400000000000000" charset="-122"/>
            </a:endParaRPr>
          </a:p>
        </p:txBody>
      </p:sp>
      <p:sp>
        <p:nvSpPr>
          <p:cNvPr id="107" name="圆角矩形 106"/>
          <p:cNvSpPr/>
          <p:nvPr/>
        </p:nvSpPr>
        <p:spPr>
          <a:xfrm>
            <a:off x="7186930" y="85725"/>
            <a:ext cx="1903095" cy="46101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3200" b="1">
                <a:solidFill>
                  <a:schemeClr val="accent1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研究</a:t>
            </a:r>
            <a:r>
              <a:rPr lang="zh-CN" altLang="en-US" sz="3200" b="1">
                <a:solidFill>
                  <a:schemeClr val="accent1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基础</a:t>
            </a:r>
            <a:endParaRPr lang="zh-CN" altLang="en-US" sz="3200" b="1">
              <a:solidFill>
                <a:schemeClr val="accent1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" name="矩形 58"/>
          <p:cNvSpPr>
            <a:spLocks noGrp="1"/>
          </p:cNvSpPr>
          <p:nvPr/>
        </p:nvSpPr>
        <p:spPr>
          <a:xfrm>
            <a:off x="523875" y="742950"/>
            <a:ext cx="11144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2475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75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研究基础：机制、端侧路径与开销量级</a:t>
            </a:r>
            <a:endParaRPr sz="2475" b="1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1" name="矩形 60"/>
          <p:cNvSpPr>
            <a:spLocks noGrp="1"/>
          </p:cNvSpPr>
          <p:nvPr/>
        </p:nvSpPr>
        <p:spPr>
          <a:xfrm>
            <a:off x="523875" y="1695450"/>
            <a:ext cx="5257800" cy="3429000"/>
          </a:xfrm>
          <a:prstGeom prst="rect">
            <a:avLst/>
          </a:prstGeom>
          <a:solidFill>
            <a:srgbClr val="FFFFFF"/>
          </a:solidFill>
          <a:ln w="14288">
            <a:solidFill>
              <a:srgbClr val="151515"/>
            </a:solidFill>
            <a:prstDash val="solid"/>
          </a:ln>
        </p:spPr>
      </p:sp>
      <p:sp>
        <p:nvSpPr>
          <p:cNvPr id="62" name="矩形 61"/>
          <p:cNvSpPr>
            <a:spLocks noGrp="1"/>
          </p:cNvSpPr>
          <p:nvPr/>
        </p:nvSpPr>
        <p:spPr>
          <a:xfrm>
            <a:off x="6057900" y="1695450"/>
            <a:ext cx="5591175" cy="3429000"/>
          </a:xfrm>
          <a:prstGeom prst="rect">
            <a:avLst/>
          </a:prstGeom>
          <a:solidFill>
            <a:srgbClr val="FFFFFF"/>
          </a:solidFill>
          <a:ln w="14288">
            <a:solidFill>
              <a:srgbClr val="151515"/>
            </a:solidFill>
            <a:prstDash val="solid"/>
          </a:ln>
        </p:spPr>
      </p:sp>
      <p:sp>
        <p:nvSpPr>
          <p:cNvPr id="63" name="矩形 62"/>
          <p:cNvSpPr>
            <a:spLocks noGrp="1"/>
          </p:cNvSpPr>
          <p:nvPr/>
        </p:nvSpPr>
        <p:spPr>
          <a:xfrm>
            <a:off x="733425" y="1828800"/>
            <a:ext cx="482917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31569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31569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已厘清HiCache的机制边界</a:t>
            </a:r>
            <a:endParaRPr sz="1725" b="1">
              <a:solidFill>
                <a:srgbClr val="31569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4" name="矩形 63"/>
          <p:cNvSpPr>
            <a:spLocks noGrp="1"/>
          </p:cNvSpPr>
          <p:nvPr/>
        </p:nvSpPr>
        <p:spPr>
          <a:xfrm>
            <a:off x="733425" y="2314575"/>
            <a:ext cx="4829175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相同token前缀可通过RadixAttention复用。HiCache按显存、实例主存和外部存储分层管理KV。[4][5]</a:t>
            </a:r>
            <a:endParaRPr sz="142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5" name="矩形 64"/>
          <p:cNvSpPr>
            <a:spLocks noGrp="1"/>
          </p:cNvSpPr>
          <p:nvPr/>
        </p:nvSpPr>
        <p:spPr>
          <a:xfrm>
            <a:off x="733425" y="3257550"/>
            <a:ext cx="4829175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显存与实例主存属于单实例；跨实例复用要通过共享存储。预取等待和KV写出是两类决策。[5][6]</a:t>
            </a:r>
            <a:endParaRPr sz="142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6" name="矩形 65"/>
          <p:cNvSpPr>
            <a:spLocks noGrp="1"/>
          </p:cNvSpPr>
          <p:nvPr/>
        </p:nvSpPr>
        <p:spPr>
          <a:xfrm>
            <a:off x="733425" y="4276725"/>
            <a:ext cx="4829175" cy="657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IMPRESS提示磁盘命中也未必缩短TTFT，因此还需考虑状态何时就绪。</a:t>
            </a:r>
            <a:endParaRPr sz="142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7" name="矩形 66"/>
          <p:cNvSpPr>
            <a:spLocks noGrp="1"/>
          </p:cNvSpPr>
          <p:nvPr/>
        </p:nvSpPr>
        <p:spPr>
          <a:xfrm>
            <a:off x="6267450" y="1828800"/>
            <a:ext cx="51625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31569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31569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端侧映射与开销量级</a:t>
            </a:r>
            <a:endParaRPr sz="1725" b="1">
              <a:solidFill>
                <a:srgbClr val="31569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8" name="矩形 67"/>
          <p:cNvSpPr>
            <a:spLocks noGrp="1"/>
          </p:cNvSpPr>
          <p:nvPr/>
        </p:nvSpPr>
        <p:spPr>
          <a:xfrm>
            <a:off x="6267450" y="2314575"/>
            <a:ext cx="51625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CPU推理：权重与活动KV同处主存。历史前缀可留在主存或固态盘。</a:t>
            </a:r>
            <a:endParaRPr sz="142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9" name="矩形 68"/>
          <p:cNvSpPr>
            <a:spLocks noGrp="1"/>
          </p:cNvSpPr>
          <p:nvPr/>
        </p:nvSpPr>
        <p:spPr>
          <a:xfrm>
            <a:off x="6267450" y="2962275"/>
            <a:ext cx="51625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同一手册再次提问：主存直接复用；固态盘中的KV与重算比较。</a:t>
            </a:r>
            <a:endParaRPr sz="142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0" name="矩形 69"/>
          <p:cNvSpPr>
            <a:spLocks noGrp="1"/>
          </p:cNvSpPr>
          <p:nvPr/>
        </p:nvSpPr>
        <p:spPr>
          <a:xfrm>
            <a:off x="6267450" y="3676650"/>
            <a:ext cx="51625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容量示例：32层、8个KV头、头维128、每元素2字节。</a:t>
            </a:r>
            <a:endParaRPr sz="142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1" name="矩形 70"/>
          <p:cNvSpPr>
            <a:spLocks noGrp="1"/>
          </p:cNvSpPr>
          <p:nvPr/>
        </p:nvSpPr>
        <p:spPr>
          <a:xfrm>
            <a:off x="6267450" y="4162425"/>
            <a:ext cx="516255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每个token约128 KiB；2048个token约256 MiB。</a:t>
            </a:r>
            <a:endParaRPr sz="142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4" name="矩形 73"/>
          <p:cNvSpPr>
            <a:spLocks noGrp="1"/>
          </p:cNvSpPr>
          <p:nvPr/>
        </p:nvSpPr>
        <p:spPr>
          <a:xfrm>
            <a:off x="6267450" y="4610100"/>
            <a:ext cx="51625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若读速为每秒1 GiB，纯读取至少0.25秒。假设估算，非实测。</a:t>
            </a:r>
            <a:endParaRPr sz="1350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-5080" y="-13970"/>
            <a:ext cx="12219940" cy="702310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3200" b="1">
                <a:latin typeface="PingFang SC Semibold" panose="020B0400000000000000" charset="-122"/>
                <a:ea typeface="PingFang SC Semibold" panose="020B0400000000000000" charset="-122"/>
              </a:rPr>
              <a:t>研究背景</a:t>
            </a:r>
            <a:r>
              <a:rPr lang="en-US" altLang="zh-CN" sz="3200" b="1">
                <a:latin typeface="PingFang SC Semibold" panose="020B0400000000000000" charset="-122"/>
                <a:ea typeface="PingFang SC Semibold" panose="020B0400000000000000" charset="-122"/>
              </a:rPr>
              <a:t>｜</a:t>
            </a:r>
            <a:r>
              <a:rPr lang="zh-CN" altLang="en-US" sz="3200" b="1">
                <a:latin typeface="PingFang SC Semibold" panose="020B0400000000000000" charset="-122"/>
                <a:ea typeface="PingFang SC Semibold" panose="020B0400000000000000" charset="-122"/>
              </a:rPr>
              <a:t>研究内容</a:t>
            </a:r>
            <a:r>
              <a:rPr lang="en-US" altLang="zh-CN" sz="3200" b="1">
                <a:latin typeface="PingFang SC Semibold" panose="020B0400000000000000" charset="-122"/>
                <a:ea typeface="PingFang SC Semibold" panose="020B0400000000000000" charset="-122"/>
              </a:rPr>
              <a:t>｜</a:t>
            </a:r>
            <a:r>
              <a:rPr lang="zh-CN" altLang="en-US" sz="3200" b="1">
                <a:latin typeface="PingFang SC Semibold" panose="020B0400000000000000" charset="-122"/>
                <a:ea typeface="PingFang SC Semibold" panose="020B0400000000000000" charset="-122"/>
              </a:rPr>
              <a:t>技术路线</a:t>
            </a:r>
            <a:r>
              <a:rPr lang="en-US" altLang="zh-CN" sz="3200" b="1">
                <a:latin typeface="PingFang SC Semibold" panose="020B0400000000000000" charset="-122"/>
                <a:ea typeface="PingFang SC Semibold" panose="020B0400000000000000" charset="-122"/>
              </a:rPr>
              <a:t>｜</a:t>
            </a:r>
            <a:r>
              <a:rPr lang="zh-CN" altLang="en-US" sz="3200" b="1">
                <a:latin typeface="PingFang SC Semibold" panose="020B0400000000000000" charset="-122"/>
                <a:ea typeface="PingFang SC Semibold" panose="020B0400000000000000" charset="-122"/>
              </a:rPr>
              <a:t>研究基础</a:t>
            </a:r>
            <a:r>
              <a:rPr lang="en-US" altLang="zh-CN" sz="3200" b="1">
                <a:latin typeface="PingFang SC Semibold" panose="020B0400000000000000" charset="-122"/>
                <a:ea typeface="PingFang SC Semibold" panose="020B0400000000000000" charset="-122"/>
              </a:rPr>
              <a:t>｜</a:t>
            </a:r>
            <a:r>
              <a:rPr lang="zh-CN" altLang="en-US" sz="3200" b="1">
                <a:latin typeface="PingFang SC Semibold" panose="020B0400000000000000" charset="-122"/>
                <a:ea typeface="PingFang SC Semibold" panose="020B0400000000000000" charset="-122"/>
              </a:rPr>
              <a:t>预期成果</a:t>
            </a:r>
            <a:endParaRPr lang="zh-CN" altLang="en-US" sz="3200" b="1">
              <a:latin typeface="PingFang SC Semibold" panose="020B0400000000000000" charset="-122"/>
              <a:ea typeface="PingFang SC Semibold" panose="020B0400000000000000" charset="-122"/>
            </a:endParaRPr>
          </a:p>
        </p:txBody>
      </p:sp>
      <p:sp>
        <p:nvSpPr>
          <p:cNvPr id="107" name="圆角矩形 106"/>
          <p:cNvSpPr/>
          <p:nvPr/>
        </p:nvSpPr>
        <p:spPr>
          <a:xfrm>
            <a:off x="9248775" y="85725"/>
            <a:ext cx="1903095" cy="46101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3200" b="1">
                <a:solidFill>
                  <a:schemeClr val="accent1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预期</a:t>
            </a:r>
            <a:r>
              <a:rPr lang="zh-CN" altLang="en-US" sz="3200" b="1">
                <a:solidFill>
                  <a:schemeClr val="accent1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成果</a:t>
            </a:r>
            <a:endParaRPr lang="zh-CN" altLang="en-US" sz="3200" b="1">
              <a:solidFill>
                <a:schemeClr val="accent1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523875" y="742950"/>
            <a:ext cx="11144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2475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75" b="1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预期成果：给出可验证的端侧缓存收益边界</a:t>
            </a:r>
            <a:endParaRPr sz="2475" b="1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23875" y="1762125"/>
            <a:ext cx="3486150" cy="2276475"/>
          </a:xfrm>
          <a:prstGeom prst="rect">
            <a:avLst/>
          </a:prstGeom>
          <a:solidFill>
            <a:srgbClr val="FFFFFF"/>
          </a:solidFill>
          <a:ln w="14288">
            <a:solidFill>
              <a:srgbClr val="151515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523875" y="1762125"/>
            <a:ext cx="3486150" cy="523875"/>
          </a:xfrm>
          <a:prstGeom prst="rect">
            <a:avLst/>
          </a:prstGeom>
          <a:solidFill>
            <a:srgbClr val="31569C"/>
          </a:solidFill>
          <a:ln w="0">
            <a:solidFill>
              <a:srgbClr val="31569C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76275" y="1838325"/>
            <a:ext cx="31813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成果1：可运行原型</a:t>
            </a:r>
            <a:endParaRPr sz="1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742950" y="2447925"/>
            <a:ext cx="3048000" cy="1409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同模型、同token前缀的KV保存、恢复与继续推理；通过logits对照验证正确性。</a:t>
            </a:r>
            <a:endParaRPr sz="142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4238625" y="1762125"/>
            <a:ext cx="3486150" cy="2276475"/>
          </a:xfrm>
          <a:prstGeom prst="rect">
            <a:avLst/>
          </a:prstGeom>
          <a:solidFill>
            <a:srgbClr val="FFFFFF"/>
          </a:solidFill>
          <a:ln w="14288">
            <a:solidFill>
              <a:srgbClr val="151515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4238625" y="1762125"/>
            <a:ext cx="3486150" cy="523875"/>
          </a:xfrm>
          <a:prstGeom prst="rect">
            <a:avLst/>
          </a:prstGeom>
          <a:solidFill>
            <a:srgbClr val="31569C"/>
          </a:solidFill>
          <a:ln w="0">
            <a:solidFill>
              <a:srgbClr val="31569C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4391025" y="1838325"/>
            <a:ext cx="31813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成果2：读算边界</a:t>
            </a:r>
            <a:endParaRPr sz="1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4457700" y="2447925"/>
            <a:ext cx="3048000" cy="1409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分档测量前缀长度、SSD负载和内存预算下的冷恢复与重算耗时。</a:t>
            </a:r>
            <a:endParaRPr sz="142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7953375" y="1762125"/>
            <a:ext cx="3486150" cy="2276475"/>
          </a:xfrm>
          <a:prstGeom prst="rect">
            <a:avLst/>
          </a:prstGeom>
          <a:solidFill>
            <a:srgbClr val="FFFFFF"/>
          </a:solidFill>
          <a:ln w="14288">
            <a:solidFill>
              <a:srgbClr val="151515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7953375" y="1762125"/>
            <a:ext cx="3486150" cy="523875"/>
          </a:xfrm>
          <a:prstGeom prst="rect">
            <a:avLst/>
          </a:prstGeom>
          <a:solidFill>
            <a:srgbClr val="31569C"/>
          </a:solidFill>
          <a:ln w="0">
            <a:solidFill>
              <a:srgbClr val="31569C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8105775" y="1838325"/>
            <a:ext cx="31813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成果3：调度比较</a:t>
            </a:r>
            <a:endParaRPr sz="1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172450" y="2447925"/>
            <a:ext cx="3048000" cy="1409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与直接重算、尽力复用、等待完成和限时等待进行公平对照。</a:t>
            </a:r>
            <a:endParaRPr sz="142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523875" y="4314825"/>
            <a:ext cx="11144250" cy="1495425"/>
          </a:xfrm>
          <a:prstGeom prst="rect">
            <a:avLst/>
          </a:prstGeom>
          <a:solidFill>
            <a:srgbClr val="FFFFFF"/>
          </a:solidFill>
          <a:ln w="14288">
            <a:solidFill>
              <a:srgbClr val="151515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723900" y="4429125"/>
            <a:ext cx="1619250" cy="314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31569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31569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结果判据</a:t>
            </a:r>
            <a:endParaRPr sz="1800" b="1">
              <a:solidFill>
                <a:srgbClr val="31569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733425" y="4848225"/>
            <a:ext cx="1045845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5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冷恢复更快：进一步验证有限等待、预取和写入预算是否改善TTFT。</a:t>
            </a:r>
            <a:endParaRPr sz="157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733425" y="5324475"/>
            <a:ext cx="1045845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l">
              <a:defRPr sz="15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15151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冷恢复更慢：转向RAM内复用、在途加载合并或只保存高价值前缀。</a:t>
            </a:r>
            <a:endParaRPr sz="1575" b="0">
              <a:solidFill>
                <a:srgbClr val="15151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矩形 4"/>
          <p:cNvSpPr/>
          <p:nvPr/>
        </p:nvSpPr>
        <p:spPr>
          <a:xfrm>
            <a:off x="1905" y="1312545"/>
            <a:ext cx="12190730" cy="4037965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3175" y="2273300"/>
            <a:ext cx="1218946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4800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敬请老师批评指正</a:t>
            </a:r>
            <a:endParaRPr lang="zh-CN" altLang="en-US" sz="4800" b="1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8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1502</Words>
  <Application>WPS 演示</Application>
  <PresentationFormat>宽屏</PresentationFormat>
  <Paragraphs>163</Paragraphs>
  <Slides>7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7" baseType="lpstr">
      <vt:lpstr>Arial</vt:lpstr>
      <vt:lpstr>宋体</vt:lpstr>
      <vt:lpstr>Wingdings</vt:lpstr>
      <vt:lpstr>Wingdings</vt:lpstr>
      <vt:lpstr>微软雅黑</vt:lpstr>
      <vt:lpstr>PingFang SC Semibold</vt:lpstr>
      <vt:lpstr>苹方-简</vt:lpstr>
      <vt:lpstr>AMGDT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许世鹏</cp:lastModifiedBy>
  <cp:revision>418</cp:revision>
  <dcterms:created xsi:type="dcterms:W3CDTF">2025-04-23T14:57:00Z</dcterms:created>
  <dcterms:modified xsi:type="dcterms:W3CDTF">2026-10-05T05:38:34Z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2052-12.1.0.28488</vt:lpwstr>
  </property>
  <property fmtid="{D5CDD505-2E9C-101B-9397-08002B2CF9AE}" pid="3" name="ICV">
    <vt:lpwstr>17CB11AF0DC147B89315F24D1F4027CD_13</vt:lpwstr>
  </property>
</Properties>
</file>