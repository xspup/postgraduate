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d2cceabc7b4ec3" /><Relationship Type="http://schemas.openxmlformats.org/officeDocument/2006/relationships/extended-properties" Target="/docProps/app.xml" Id="R3470e7df3ced414c" /><Relationship Type="http://schemas.openxmlformats.org/officeDocument/2006/relationships/officeDocument" Target="/ppt/presentation.xml" Id="Rcb1402f24e6f46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d3272504334910"/>
  </p:sldMasterIdLst>
  <p:notesMasterIdLst>
    <p:notesMasterId xmlns:r="http://schemas.openxmlformats.org/officeDocument/2006/relationships" r:id="R32f0014ba1454ef4"/>
  </p:notesMasterIdLst>
  <p:sldIdLst>
    <p:sldId xmlns:r="http://schemas.openxmlformats.org/officeDocument/2006/relationships" id="256" r:id="Rc82720f9e9694090"/>
    <p:sldId xmlns:r="http://schemas.openxmlformats.org/officeDocument/2006/relationships" id="257" r:id="R7b1d2b4492444be7"/>
    <p:sldId xmlns:r="http://schemas.openxmlformats.org/officeDocument/2006/relationships" id="258" r:id="R6e73ab3501ab439e"/>
    <p:sldId xmlns:r="http://schemas.openxmlformats.org/officeDocument/2006/relationships" id="259" r:id="Rab46ba3cf9a147c0"/>
    <p:sldId xmlns:r="http://schemas.openxmlformats.org/officeDocument/2006/relationships" id="260" r:id="Rb23b9046dbc5477e"/>
    <p:sldId xmlns:r="http://schemas.openxmlformats.org/officeDocument/2006/relationships" id="261" r:id="Rada722e13a164a35"/>
    <p:sldId xmlns:r="http://schemas.openxmlformats.org/officeDocument/2006/relationships" id="262" r:id="R456797d332ed4c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c44af082b643d2" /><Relationship Type="http://schemas.openxmlformats.org/officeDocument/2006/relationships/slideMaster" Target="/ppt/slideMasters/slideMaster1.xml" Id="Re1d3272504334910" /><Relationship Type="http://schemas.openxmlformats.org/officeDocument/2006/relationships/notesMaster" Target="/ppt/notesMasters/notesMaster1.xml" Id="R32f0014ba1454ef4" /><Relationship Type="http://schemas.openxmlformats.org/officeDocument/2006/relationships/presProps" Target="/ppt/presProps.xml" Id="R894af68d51a54d11" /><Relationship Type="http://schemas.openxmlformats.org/officeDocument/2006/relationships/tableStyles" Target="/ppt/tableStyles.xml" Id="R34155b0531ba4cd1" /><Relationship Type="http://schemas.openxmlformats.org/officeDocument/2006/relationships/slide" Target="/ppt/slides/slide1.xml" Id="Rc82720f9e9694090" /><Relationship Type="http://schemas.openxmlformats.org/officeDocument/2006/relationships/slide" Target="/ppt/slides/slide2.xml" Id="R7b1d2b4492444be7" /><Relationship Type="http://schemas.openxmlformats.org/officeDocument/2006/relationships/slide" Target="/ppt/slides/slide3.xml" Id="R6e73ab3501ab439e" /><Relationship Type="http://schemas.openxmlformats.org/officeDocument/2006/relationships/slide" Target="/ppt/slides/slide4.xml" Id="Rab46ba3cf9a147c0" /><Relationship Type="http://schemas.openxmlformats.org/officeDocument/2006/relationships/slide" Target="/ppt/slides/slide5.xml" Id="Rb23b9046dbc5477e" /><Relationship Type="http://schemas.openxmlformats.org/officeDocument/2006/relationships/slide" Target="/ppt/slides/slide6.xml" Id="Rada722e13a164a35" /><Relationship Type="http://schemas.openxmlformats.org/officeDocument/2006/relationships/slide" Target="/ppt/slides/slide7.xml" Id="R456797d332ed4c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76e4299e654c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710fb489b9417c" /><Relationship Type="http://schemas.openxmlformats.org/officeDocument/2006/relationships/notesMaster" Target="/ppt/notesMasters/notesMaster1.xml" Id="R27a18c3cab4345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931539a89846ac" /><Relationship Type="http://schemas.openxmlformats.org/officeDocument/2006/relationships/notesMaster" Target="/ppt/notesMasters/notesMaster1.xml" Id="R8bc66b0bc2fc47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acbd2619c44bc0" /><Relationship Type="http://schemas.openxmlformats.org/officeDocument/2006/relationships/notesMaster" Target="/ppt/notesMasters/notesMaster1.xml" Id="R5710a30199e442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2fe52fbf6a4dc3" /><Relationship Type="http://schemas.openxmlformats.org/officeDocument/2006/relationships/notesMaster" Target="/ppt/notesMasters/notesMaster1.xml" Id="Rccb939574d2f49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a4c7b1bff6418f" /><Relationship Type="http://schemas.openxmlformats.org/officeDocument/2006/relationships/notesMaster" Target="/ppt/notesMasters/notesMaster1.xml" Id="R0890a03201a242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5cb781fa7f45de" /><Relationship Type="http://schemas.openxmlformats.org/officeDocument/2006/relationships/notesMaster" Target="/ppt/notesMasters/notesMaster1.xml" Id="R2d9e7164cd2946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256fc70ea6421e" /><Relationship Type="http://schemas.openxmlformats.org/officeDocument/2006/relationships/notesMaster" Target="/ppt/notesMasters/notesMaster1.xml" Id="R264be1e0d77549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依据组内五板块模板制作。正文为研究背景、研究内容、技术路线、研究基础、预期成果五页。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SGLang RadixAttention: https://arxiv.org/abs/2312.07104 。HiCache官方系统设计：https://docs.sglang.io/docs/advanced_features/hicache_design 。本页工控机案例与端侧约束取自本地调研报告第1、5章，属于研究场景。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左侧为本课题CPU-only候选路径，不表示SGLang HiCache已具备CPU-only推理后端。右侧三项为拟开展的研究任务，不是已经完成的实验。HiCache系统设计：https://docs.sglang.io/docs/advanced_features/hicache_design 。预取策略：https://docs.sglang.io/docs/advanced_features/hicache_best_practices 。正确性与收益边界见本地调研报告第5至6章。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HiCache三类预取停止策略见 https://docs.sglang.io/docs/advanced_features/hicache_best_practices 。IMPRESS：https://www.usenix.org/conference/fast25/presentation/chen-weijian-impress 。表中实验变量与通过条件是本课题拟验证方案，没有实测结论。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本地报告共28条参考文献，其中25篇研究论文、3项官方资料；见报告第1.4节。SGLang：https://arxiv.org/abs/2312.07104 。HiCache：https://docs.sglang.io/docs/advanced_features/hicache_design 。IMPRESS：https://www.usenix.org/conference/fast25/presentation/chen-weijian-impress 。Strata：https://www.usenix.org/conference/osdi26/presentation/xie-zhiqiang 。当前无实验数据。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所有成果都是预期交付，不代表已经实现或实测。对照策略来自 https://docs.sglang.io/docs/advanced_features/hicache_best_practices 。可行性判断和转向条件见本地报告第5.6、6.7章。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讨论问题：1. CPU-only工控机能否作为第一阶段目标设备？2. 是否坚持完整前缀KV的精确复用？3. 跨实例/跨设备共享是否放在单设备收益边界之后？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3a6cc98bf547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973caba856425e" /><Relationship Type="http://schemas.openxmlformats.org/officeDocument/2006/relationships/slideLayout" Target="/ppt/slideLayouts/slideLayout1.xml" Id="Rcf8c11a84a2b47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8c11a84a2b47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0bbc3dd54d46e5" /><Relationship Type="http://schemas.openxmlformats.org/officeDocument/2006/relationships/notesSlide" Target="/ppt/notesSlides/notesSlide1.xml" Id="Re3fca8120a6b48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f93b4c4f714c47" /><Relationship Type="http://schemas.openxmlformats.org/officeDocument/2006/relationships/notesSlide" Target="/ppt/notesSlides/notesSlide2.xml" Id="Rf583b463434745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2ad4aa26054207" /><Relationship Type="http://schemas.openxmlformats.org/officeDocument/2006/relationships/notesSlide" Target="/ppt/notesSlides/notesSlide3.xml" Id="Rd3a4cc6783f749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dc6771892d48ff" /><Relationship Type="http://schemas.openxmlformats.org/officeDocument/2006/relationships/notesSlide" Target="/ppt/notesSlides/notesSlide4.xml" Id="Re0ba441f3e9e42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c7617655a04495" /><Relationship Type="http://schemas.openxmlformats.org/officeDocument/2006/relationships/notesSlide" Target="/ppt/notesSlides/notesSlide5.xml" Id="R20a2db7609fb41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0f89488c90456c" /><Relationship Type="http://schemas.openxmlformats.org/officeDocument/2006/relationships/notesSlide" Target="/ppt/notesSlides/notesSlide6.xml" Id="R2015254bedc94be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0604a80f884a60" /><Relationship Type="http://schemas.openxmlformats.org/officeDocument/2006/relationships/notesSlide" Target="/ppt/notesSlides/notesSlide7.xml" Id="R169d94796d1349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251BFC-D04E-4578-A41F-D46E2880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09750"/>
            <a:ext cx="1219200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69C"/>
          </a:solidFill>
          <a:ln xmlns:a="http://schemas.openxmlformats.org/drawingml/2006/main" w="0">
            <a:solidFill>
              <a:srgbClr val="31569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0FFFF6-4AAB-4B70-B094-130C5181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面向端侧大模型推理的</a:t>
            </a:r>
          </a:p>
          <a:p xmlns:a="http://schemas.openxmlformats.org/drawingml/2006/main">
            <a:pPr algn="ctr">
              <a:defRPr sz="34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HiCache架构适配与缓存调度研究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D7C8F0-85AE-4A07-8D1E-ACBAA4234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952875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组内研究方向汇报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AFEC7-FAE1-4D32-926B-0C89737B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76750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2026年10月9日</a:t>
            </a:r>
          </a:p>
        </p:txBody>
      </p:sp>
    </p:spTree>
    <p:extLst>
      <p:ext uri="{BB962C8B-B14F-4D97-AF65-F5344CB8AC3E}">
        <p14:creationId xmlns:p14="http://schemas.microsoft.com/office/powerpoint/2010/main" val="10924203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38BA67-17E6-403C-A807-E554D3FE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69C"/>
          </a:solidFill>
          <a:ln xmlns:a="http://schemas.openxmlformats.org/drawingml/2006/main" w="0">
            <a:solidFill>
              <a:srgbClr val="31569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0A390F-4197-4471-A7B5-3CF0D658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研究背景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E4A38F-0A8A-4B78-BDED-9FA84D3D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"/>
            <a:ext cx="1466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2F"/>
          </a:solidFill>
          <a:ln xmlns:a="http://schemas.openxmlformats.org/drawingml/2006/main" w="0">
            <a:solidFill>
              <a:srgbClr val="D8A82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F561A7-83DB-4950-AF3B-16A66970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研究内容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E48574-BC5A-4C95-ADCA-C4236E9C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技术路线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023900-80A7-468F-A837-C56DBB54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研究基础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018D2E-22F4-4473-9807-AE3991FC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预期成果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E62263-3BBF-4452-A3EF-4DFDD08F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429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研究背景：同一文档被重复计算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59111C-F089-4904-AB26-88D4EADA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1096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A3A3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3A3A3A"/>
                </a:solidFill>
                <a:latin typeface="微软雅黑"/>
                <a:ea typeface="微软雅黑"/>
                <a:cs typeface="微软雅黑"/>
              </a:rPr>
              <a:t>场景：离线工控机反复查询同一份设备手册，问题不同，公共前缀相同。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F460A7-9FF4-4FFD-BBF8-3281CF25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24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8DE"/>
          </a:solidFill>
          <a:ln xmlns:a="http://schemas.openxmlformats.org/drawingml/2006/main" w="0">
            <a:solidFill>
              <a:srgbClr val="D4D8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06BCAF-2031-4D4F-B915-FF681191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依据：SGLang论文[4]；HiCache官方设计[5]。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B73896-8F7C-4094-928D-234DB045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2/7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E1D280-BED1-482F-86BF-45260FAA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95450"/>
            <a:ext cx="5857875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151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1C99A7-D5DE-4C30-8BAD-58916578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2476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固定输入模板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7EE219-CD72-4494-9156-E9EC7E4D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9825"/>
            <a:ext cx="236220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5151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81E190-CEAC-40B1-9CCB-4233D741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66975"/>
            <a:ext cx="21717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系统提示词＋设备手册</a:t>
            </a:r>
          </a:p>
          <a:p xmlns:a="http://schemas.openxmlformats.org/drawingml/2006/main">
            <a:pPr algn="ctr">
              <a:defRPr sz="150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＋固定分隔符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B23E63-4162-430F-B935-39286876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62175"/>
            <a:ext cx="2266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5151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2AD2C8-5584-484E-881F-CF670EDC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219325"/>
            <a:ext cx="2076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问题A</a:t>
            </a:r>
          </a:p>
          <a:p xmlns:a="http://schemas.openxmlformats.org/drawingml/2006/main">
            <a:pPr algn="ctr">
              <a:def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故障码E17如何处理？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F844AA-9FA5-4F15-BAD1-81A98524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124200"/>
            <a:ext cx="2266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5151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4346B5-6085-4B9C-91CE-3D42764D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81350"/>
            <a:ext cx="2076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问题B</a:t>
            </a:r>
          </a:p>
          <a:p xmlns:a="http://schemas.openxmlformats.org/drawingml/2006/main">
            <a:pPr algn="ctr">
              <a:def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处理后检查哪些传感器？</a:t>
            </a:r>
          </a:p>
        </p:txBody>
      </p:sp>
      <p:cxnSp>
        <p:nvCxnSpPr>
          <p:cNvPr id="53" name=""/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3143250" y="2524125"/>
            <a:ext cx="647700" cy="376238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51515"/>
            </a:solidFill>
            <a:prstDash val="solid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3143250" y="2900363"/>
            <a:ext cx="647700" cy="585788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51515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25A068-9737-4ACB-AB6C-EA7A0961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14775"/>
            <a:ext cx="5410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公共前缀的KV仅需计算一次，问题部分各自继续Prefill。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547EED-E2B0-410D-BB74-C7D917D1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695450"/>
            <a:ext cx="5019675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151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06412D-3C30-446A-A9A2-17884C80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1809750"/>
            <a:ext cx="452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端侧与云侧的关键差别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617EFA-BEF5-4C94-90FD-6D73B0F0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333625"/>
            <a:ext cx="44672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无独立GPU：模型权重与活动KV共用RAM。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B81606-8CC6-4D27-BF82-F290EA91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981325"/>
            <a:ext cx="44672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历史KV在SSD：命中后仍需读取和恢复。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B77D7A-893A-4C6E-ADF0-9353440B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629025"/>
            <a:ext cx="44672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共享CPU与内存带宽：读取可能慢于重算。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D66856-8871-448F-B8C0-BCCBCB78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62475"/>
            <a:ext cx="11125200" cy="1419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151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3A1048-7C0D-4CED-B250-4D44808B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14875"/>
            <a:ext cx="1714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1569C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31569C"/>
                </a:solidFill>
                <a:latin typeface="微软雅黑"/>
                <a:ea typeface="微软雅黑"/>
                <a:cs typeface="微软雅黑"/>
              </a:rPr>
              <a:t>核心问题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F695B5-01A4-44D8-BEB9-AF8F3A42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76825"/>
            <a:ext cx="106013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给定相同token前缀，系统应当直接复用RAM、从SSD加载，还是重新计算？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1C9556-327E-4D4A-8365-D6CE7C5F9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81650"/>
            <a:ext cx="10601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评价目标：前台请求的首token时间（TTFT），并检查正确性、峰值内存与后台I/O干扰。</a:t>
            </a:r>
          </a:p>
        </p:txBody>
      </p:sp>
    </p:spTree>
    <p:extLst>
      <p:ext uri="{BB962C8B-B14F-4D97-AF65-F5344CB8AC3E}">
        <p14:creationId xmlns:p14="http://schemas.microsoft.com/office/powerpoint/2010/main" val="17308831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022C32B-53E4-40A9-AE7A-7FBB0CFC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69C"/>
          </a:solidFill>
          <a:ln xmlns:a="http://schemas.openxmlformats.org/drawingml/2006/main" w="0">
            <a:solidFill>
              <a:srgbClr val="31569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FBA4C4-4FAD-4F2D-AA47-B4028221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研究背景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42C06B-8D2B-4871-9547-71BCDA274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研究内容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1D073B-B4BE-4439-851F-B3DF4B2C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66725"/>
            <a:ext cx="1466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2F"/>
          </a:solidFill>
          <a:ln xmlns:a="http://schemas.openxmlformats.org/drawingml/2006/main" w="0">
            <a:solidFill>
              <a:srgbClr val="D8A82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214C3D-F8CE-4467-8629-1F9D36CF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技术路线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3ABDC4-F046-40D5-89F9-AE48F252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研究基础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BC783E-685D-475A-AF57-A89F0F40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预期成果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F4D38F-0AAB-43A4-9230-04506A36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429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研究内容：CPU-only前缀KV复用与读算选择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FA90B8-E051-42AC-8CF7-ADE0C428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1096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A3A3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3A3A3A"/>
                </a:solidFill>
                <a:latin typeface="微软雅黑"/>
                <a:ea typeface="微软雅黑"/>
                <a:cs typeface="微软雅黑"/>
              </a:rPr>
              <a:t>先限定单设备、同模型、完全相同的token前缀；手机与跨设备是后续验证对象。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448038-F8F7-40EB-857D-4460A3A0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24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8DE"/>
          </a:solidFill>
          <a:ln xmlns:a="http://schemas.openxmlformats.org/drawingml/2006/main" w="0">
            <a:solidFill>
              <a:srgbClr val="D4D8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C677DB-6641-4161-B067-652EE20D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依据：HiCache官方设计[5]；本课题端侧适配分析。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30DC6B-408F-4976-8FD7-677893AA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3/7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7E5448-AF57-4A72-AE1D-AF8F95C3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685925"/>
            <a:ext cx="709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CPU-only候选数据路径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900341-95FC-434B-8915-30D753C4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47925"/>
            <a:ext cx="10858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5151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FF7EA9-0738-4647-B4DD-CA9832A9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895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再次提问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E940A8-882F-43C8-B968-37F0EE4C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324100"/>
            <a:ext cx="16383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5151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73A7C6-B048-4861-A8D3-F0EB8D52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381250"/>
            <a:ext cx="1447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Radix前缀索引</a:t>
            </a:r>
          </a:p>
          <a:p xmlns:a="http://schemas.openxmlformats.org/drawingml/2006/main">
            <a:pPr algn="ctr">
              <a:def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查位置与状态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9F63DC-4599-4916-8B87-BE185F4A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324100"/>
            <a:ext cx="14859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5151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2285D0-8F37-4447-9CF1-48E28CF3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381250"/>
            <a:ext cx="1295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CPU推理</a:t>
            </a:r>
          </a:p>
          <a:p xmlns:a="http://schemas.openxmlformats.org/drawingml/2006/main">
            <a:pPr algn="ctr">
              <a:def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复用或重算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220763-7E56-4160-8BFD-DD2A6D4F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447925"/>
            <a:ext cx="76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5151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59E092-62E7-4435-8EB7-5551538E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0507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回答</a:t>
            </a:r>
          </a:p>
        </p:txBody>
      </p:sp>
      <p:cxnSp>
        <p:nvCxnSpPr>
          <p:cNvPr id="66" name=""/>
          <p:cNvCxnSpPr>
            <a:stCxn xmlns:a="http://schemas.openxmlformats.org/drawingml/2006/main" id="1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1657350" y="279082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51515"/>
            </a:solidFill>
            <a:prstDash val="solid"/>
            <a:tailEnd type="triangle" w="sm" len="sm"/>
          </a:ln>
        </p:spPr>
      </p:cxnSp>
      <p:cxnSp>
        <p:nvCxnSpPr>
          <p:cNvPr id="67" name=""/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3657600" y="2790825"/>
            <a:ext cx="140017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51515"/>
            </a:solidFill>
            <a:prstDash val="solid"/>
            <a:tailEnd type="triangle" w="sm" len="sm"/>
          </a:ln>
        </p:spPr>
      </p:cxnSp>
      <p:cxnSp>
        <p:nvCxnSpPr>
          <p:cNvPr id="68" name=""/>
          <p:cNvCxnSpPr>
            <a:stCxn xmlns:a="http://schemas.openxmlformats.org/drawingml/2006/main" id="18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6543675" y="279082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51515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E2C28E-591F-4998-866B-47D11CFF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895725"/>
            <a:ext cx="1952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5151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B6E5C4-68AC-4DAB-9EA8-8EEC0EB5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952875"/>
            <a:ext cx="17621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SSD：历史前缀KV</a:t>
            </a:r>
          </a:p>
          <a:p xmlns:a="http://schemas.openxmlformats.org/drawingml/2006/main">
            <a:pPr algn="ctr">
              <a:def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按需恢复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F54020-C207-4E44-BD12-A5B5E92B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895725"/>
            <a:ext cx="2038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5151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78238D-8019-4F53-9E0D-C4157D24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952875"/>
            <a:ext cx="18478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RAM：活动KV</a:t>
            </a:r>
          </a:p>
          <a:p xmlns:a="http://schemas.openxmlformats.org/drawingml/2006/main">
            <a:pPr algn="ctr">
              <a:def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还需容纳模型和请求</a:t>
            </a:r>
          </a:p>
        </p:txBody>
      </p:sp>
      <p:cxnSp>
        <p:nvCxnSpPr>
          <p:cNvPr id="73" name=""/>
          <p:cNvCxnSpPr>
            <a:stCxn xmlns:a="http://schemas.openxmlformats.org/drawingml/2006/main" id="16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2838450" y="3257550"/>
            <a:ext cx="166688" cy="6381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51515"/>
            </a:solidFill>
            <a:prstDash val="solid"/>
            <a:tailEnd type="triangle" w="sm" len="sm"/>
          </a:ln>
        </p:spPr>
      </p:cxnSp>
      <p:cxnSp>
        <p:nvCxnSpPr>
          <p:cNvPr id="74" name=""/>
          <p:cNvCxnSpPr>
            <a:stCxn xmlns:a="http://schemas.openxmlformats.org/drawingml/2006/main" id="25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3981450" y="43529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51515"/>
            </a:solidFill>
            <a:prstDash val="solid"/>
            <a:tailEnd type="triangle" w="sm" len="sm"/>
          </a:ln>
        </p:spPr>
      </p:cxnSp>
      <p:cxnSp>
        <p:nvCxnSpPr>
          <p:cNvPr id="75" name=""/>
          <p:cNvCxnSpPr>
            <a:stCxn xmlns:a="http://schemas.openxmlformats.org/drawingml/2006/main" id="27" idx="0"/>
            <a:endCxn xmlns:a="http://schemas.openxmlformats.org/drawingml/2006/main" id="18" idx="2"/>
          </p:cNvCxnSpPr>
          <p:nvPr/>
        </p:nvCxnSpPr>
        <p:spPr>
          <a:xfrm xmlns:a="http://schemas.openxmlformats.org/drawingml/2006/main" flipH="1" flipV="1">
            <a:off x="5800725" y="3257550"/>
            <a:ext cx="57150" cy="6381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51515"/>
            </a:solidFill>
            <a:prstDash val="solid"/>
            <a:tail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E77186-C36D-42A4-9892-609AA0D9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105400"/>
            <a:ext cx="706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RAM命中直接用；SSD命中比较恢复与重算；未命中则重算。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6D4DEF-599A-4F82-9CA3-C252E7AF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685925"/>
            <a:ext cx="37909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151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A3C403-5E24-474A-8B62-2970469B3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09750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1569C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31569C"/>
                </a:solidFill>
                <a:latin typeface="微软雅黑"/>
                <a:ea typeface="微软雅黑"/>
                <a:cs typeface="微软雅黑"/>
              </a:rPr>
              <a:t>三个研究任务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B3D994-A77B-45BB-B103-C1F9D209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009900"/>
            <a:ext cx="340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8DE"/>
          </a:solidFill>
          <a:ln xmlns:a="http://schemas.openxmlformats.org/drawingml/2006/main" w="0">
            <a:solidFill>
              <a:srgbClr val="D4D8D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AF23F3-4DC0-418B-BD78-7EB7084D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133850"/>
            <a:ext cx="340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8DE"/>
          </a:solidFill>
          <a:ln xmlns:a="http://schemas.openxmlformats.org/drawingml/2006/main" w="0">
            <a:solidFill>
              <a:srgbClr val="D4D8D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28D9BE-FF46-473A-9156-76C785A6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19325"/>
            <a:ext cx="335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  状态能否正确恢复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9B42BB1-2E87-483B-927B-D2F8D7905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62225"/>
            <a:ext cx="335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实现前缀匹配和KV保存、导入，</a:t>
            </a:r>
          </a:p>
          <a:p xmlns:a="http://schemas.openxmlformats.org/drawingml/2006/main">
            <a:pPr algn="l">
              <a:def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用同一输入的logits对照验证。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006BB83-DE0D-43DC-905E-6A53A8CA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81350"/>
            <a:ext cx="335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2  读取何时快于重算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CE3BCF7-826E-451A-BFDD-5E0F99D84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33775"/>
            <a:ext cx="335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测SSD读取与恢复、CPU Prefill耗时，</a:t>
            </a:r>
          </a:p>
          <a:p xmlns:a="http://schemas.openxmlformats.org/drawingml/2006/main">
            <a:pPr algn="l">
              <a:def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同时检查RAM能否容纳所需状态。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BD28FE0-6CF3-48BA-BF58-A121296C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95775"/>
            <a:ext cx="335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3  预取与写入怎样干扰请求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0974AAA-65C9-4BA3-9F39-894FCD7E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657725"/>
            <a:ext cx="335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比较等待策略，限制后台写入占用，</a:t>
            </a:r>
          </a:p>
          <a:p xmlns:a="http://schemas.openxmlformats.org/drawingml/2006/main">
            <a:pPr algn="l">
              <a:def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观察前台TTFT与I/O竞争。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857C1F5-321E-40C3-9875-EF430DF0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724525"/>
            <a:ext cx="11087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15151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FF59759-DA98-459C-BC53-EF9EE20B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72150"/>
            <a:ext cx="10839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范围：同设备、同模型、精确前缀KV复用；跨实例和跨设备共享作为后续扩展。</a:t>
            </a:r>
          </a:p>
        </p:txBody>
      </p:sp>
    </p:spTree>
    <p:extLst>
      <p:ext uri="{BB962C8B-B14F-4D97-AF65-F5344CB8AC3E}">
        <p14:creationId xmlns:p14="http://schemas.microsoft.com/office/powerpoint/2010/main" val="4720252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C48E91D-6575-44A3-8CDE-79656E25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69C"/>
          </a:solidFill>
          <a:ln xmlns:a="http://schemas.openxmlformats.org/drawingml/2006/main" w="0">
            <a:solidFill>
              <a:srgbClr val="31569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47E612-4167-400E-9FDD-C7D71A02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研究背景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7F02CF-4CE5-4363-98F4-05298553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研究内容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F65431-64D6-43DA-8674-E48A9682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技术路线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B580B9-53B2-463B-AAFB-4FD278F3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66725"/>
            <a:ext cx="1466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2F"/>
          </a:solidFill>
          <a:ln xmlns:a="http://schemas.openxmlformats.org/drawingml/2006/main" w="0">
            <a:solidFill>
              <a:srgbClr val="D8A82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E31986-B19A-4FBE-B3F6-0665E240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研究基础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8A5755-4011-41A1-A225-5958FB80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预期成果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9F694A-A1C4-45B9-98AE-95B081D2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429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技术路线：正确性、读算边界、调度对照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227EEC-40EA-4CBD-9239-169F0F52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1096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A3A3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3A3A3A"/>
                </a:solidFill>
                <a:latin typeface="微软雅黑"/>
                <a:ea typeface="微软雅黑"/>
                <a:cs typeface="微软雅黑"/>
              </a:rPr>
              <a:t>每一步都有可否定条件；上一阶段不成立，就调整方向，不直接叠加复杂策略。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1EA4A0-658F-4DF9-A449-D8DE54A4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24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8DE"/>
          </a:solidFill>
          <a:ln xmlns:a="http://schemas.openxmlformats.org/drawingml/2006/main" w="0">
            <a:solidFill>
              <a:srgbClr val="D4D8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46A951-15A7-4270-87AF-5550065D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依据：HiCache预取策略[5][6]；IMPRESS[11]；本课题实验方案。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FBAEA9-F197-46B5-BE04-37DC9E18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4/7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111B59-FFF3-4F90-A8B9-BA059D77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85925"/>
            <a:ext cx="3333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5151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ECDCB2-81B7-4683-8B9E-7378C867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43075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阶段1：状态正确性</a:t>
            </a:r>
          </a:p>
          <a:p xmlns:a="http://schemas.openxmlformats.org/drawingml/2006/main">
            <a:pPr algn="ctr">
              <a:defRPr sz="15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KV导出→恢复→继续推理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0D1C56-2100-4CE5-9155-D3A80784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85925"/>
            <a:ext cx="3333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5151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5F4512-7149-42C0-AF4D-7F5312AE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43075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阶段2：读算临界点</a:t>
            </a:r>
          </a:p>
          <a:p xmlns:a="http://schemas.openxmlformats.org/drawingml/2006/main">
            <a:pPr algn="ctr">
              <a:defRPr sz="15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实测SSD恢复与CPU重算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19FECC-CF51-414E-844C-873AC574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85925"/>
            <a:ext cx="3333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5151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54223B-765C-4101-998F-E8EC4710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743075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阶段3：调度对照</a:t>
            </a:r>
          </a:p>
          <a:p xmlns:a="http://schemas.openxmlformats.org/drawingml/2006/main">
            <a:pPr algn="ctr">
              <a:defRPr sz="15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预取等待与后台写入预算</a:t>
            </a:r>
          </a:p>
        </p:txBody>
      </p:sp>
      <p:cxnSp>
        <p:nvCxnSpPr>
          <p:cNvPr id="72" name=""/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3857625" y="21621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51515"/>
            </a:solidFill>
            <a:prstDash val="solid"/>
            <a:tailEnd type="triangle" w="sm" len="sm"/>
          </a:ln>
        </p:spPr>
      </p:cxnSp>
      <p:cxnSp>
        <p:nvCxnSpPr>
          <p:cNvPr id="73" name=""/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762875" y="21621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51515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3F5FF3-0CCE-44DA-91A2-C76C9B2D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09900"/>
            <a:ext cx="2238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69C"/>
          </a:solidFill>
          <a:ln xmlns:a="http://schemas.openxmlformats.org/drawingml/2006/main" w="0">
            <a:solidFill>
              <a:srgbClr val="31569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FEDC0B-70A3-468C-A12E-4BC28B31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057525"/>
            <a:ext cx="2085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实验环节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5C2D93-E074-4C09-95F9-C0452B20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09900"/>
            <a:ext cx="37052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69C"/>
          </a:solidFill>
          <a:ln xmlns:a="http://schemas.openxmlformats.org/drawingml/2006/main" w="0">
            <a:solidFill>
              <a:srgbClr val="31569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05A738-DC2C-4916-8737-E3EAA0CF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057525"/>
            <a:ext cx="3552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操纵变量与对照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29D8B2-B91B-4499-BDAB-CC310CFA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009900"/>
            <a:ext cx="2533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69C"/>
          </a:solidFill>
          <a:ln xmlns:a="http://schemas.openxmlformats.org/drawingml/2006/main" w="0">
            <a:solidFill>
              <a:srgbClr val="31569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4D51DF-DD6B-4AC3-BE8E-8DD4C2DE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0575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记录指标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E14235-71E6-4E42-A702-4B1A5729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009900"/>
            <a:ext cx="266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69C"/>
          </a:solidFill>
          <a:ln xmlns:a="http://schemas.openxmlformats.org/drawingml/2006/main" w="0">
            <a:solidFill>
              <a:srgbClr val="31569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4E2519-D406-4888-BACD-990B8A5F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057525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通过条件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BB6355-FF8C-4629-8289-B6EC0812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67100"/>
            <a:ext cx="2238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19657C-96E7-4492-A1DA-B88E3D7E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43300"/>
            <a:ext cx="2047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恢复正确性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6C574E-48B3-40B3-AA9B-FE34B6C5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467100"/>
            <a:ext cx="37052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111EF4-ED6F-42B7-9453-666704F8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43300"/>
            <a:ext cx="35147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同输入：保存恢复 vs 完全重算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861688-48CC-434C-8D61-0293E929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467100"/>
            <a:ext cx="25336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69A8A0-DE5F-47A3-A778-D8055F54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543300"/>
            <a:ext cx="23431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logits差异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72CE4B-9A0E-4833-B213-8F4F7494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467100"/>
            <a:ext cx="266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78A3D2-6F5E-4E3E-9A94-E2FBB772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543300"/>
            <a:ext cx="2476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状态兼容且输出可继续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7492F91-CD46-4AFD-B178-186F541A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10050"/>
            <a:ext cx="2238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1332182-5B22-492D-B056-509C8342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0"/>
            <a:ext cx="2047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读算边界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8378DC1-482D-4BE9-A591-4E372F1D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210050"/>
            <a:ext cx="37052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C6136E-5A2F-4D4F-8FE1-3838B076A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86250"/>
            <a:ext cx="35147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前缀长度、RAM预算、SSD负载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1C1D6A9-4AD6-4256-A606-A362851B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210050"/>
            <a:ext cx="25336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12C8F1F-C7E0-42DB-A046-ABB54E3C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286250"/>
            <a:ext cx="23431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TTFT、读取字节、峰值RAM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2DC636A-0107-4657-B4D1-8DDAE786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210050"/>
            <a:ext cx="266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2D2AB9E-C1A0-4572-A012-E8603507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286250"/>
            <a:ext cx="2476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至少存在可重复的获益区间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AC71B0B-FC48-4140-88F3-D8896D7C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53000"/>
            <a:ext cx="2238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733EE21-36A7-4F4D-94B4-E413BDBE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29200"/>
            <a:ext cx="2047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策略比较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A6A1F77-79D8-4628-A461-A7B7A4B4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953000"/>
            <a:ext cx="37052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CAA4A69-3DAA-45D4-867E-301A6AFE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29200"/>
            <a:ext cx="35147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重算／固定等待／有限等待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39E1773-851D-4BB5-A2A3-8FC8BAB9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953000"/>
            <a:ext cx="25336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D460270-2E0C-4635-86B9-BED773F3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5029200"/>
            <a:ext cx="23431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P50/P95 TTFT、I/O干扰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ED7A1D8-35A6-4607-8BBA-0C38B23D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953000"/>
            <a:ext cx="266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446CD75-9B4C-4CB8-99AB-93081065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029200"/>
            <a:ext cx="2476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优于合适的固定基线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D02A694-A0B4-4EC0-942E-3A378030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848350"/>
            <a:ext cx="11049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1569C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31569C"/>
                </a:solidFill>
                <a:latin typeface="微软雅黑"/>
                <a:ea typeface="微软雅黑"/>
                <a:cs typeface="微软雅黑"/>
              </a:rPr>
              <a:t>若冷恢复始终慢于重算，则停止冷加载调度优化，转向RAM内复用或写入筛选。</a:t>
            </a:r>
          </a:p>
        </p:txBody>
      </p:sp>
    </p:spTree>
    <p:extLst>
      <p:ext uri="{BB962C8B-B14F-4D97-AF65-F5344CB8AC3E}">
        <p14:creationId xmlns:p14="http://schemas.microsoft.com/office/powerpoint/2010/main" val="21119475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69DEE2C-D3F1-4D6C-8D47-15EFC4D7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69C"/>
          </a:solidFill>
          <a:ln xmlns:a="http://schemas.openxmlformats.org/drawingml/2006/main" w="0">
            <a:solidFill>
              <a:srgbClr val="31569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58C3AA-237E-4340-9594-8F6EBA77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研究背景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4F8310-5E36-4B04-9EA5-FE09CE5D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研究内容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43F63B-42BF-4CC5-940F-DD2DFB1C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技术路线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5D5E3D-BD91-4E70-AB5E-594CE2DB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研究基础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C472B0-F919-4862-91F0-57F66D18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66725"/>
            <a:ext cx="1466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2F"/>
          </a:solidFill>
          <a:ln xmlns:a="http://schemas.openxmlformats.org/drawingml/2006/main" w="0">
            <a:solidFill>
              <a:srgbClr val="D8A82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4E961D-655E-48B5-B9F1-8CE72763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预期成果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BD8112-DC7E-4E41-8D43-EB62EF9A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429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研究基础：机制梳理完成，实验尚未开始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0369E8-1896-4268-AE0F-11D21024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1096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A3A3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3A3A3A"/>
                </a:solidFill>
                <a:latin typeface="微软雅黑"/>
                <a:ea typeface="微软雅黑"/>
                <a:cs typeface="微软雅黑"/>
              </a:rPr>
              <a:t>已经有可复查的文献与架构分析，下一步先核查推理后端的KV导出和恢复接口。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6D78C3-E9CB-45A6-A7D0-CD37D9C1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24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8DE"/>
          </a:solidFill>
          <a:ln xmlns:a="http://schemas.openxmlformats.org/drawingml/2006/main" w="0">
            <a:solidFill>
              <a:srgbClr val="D4D8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3BA14D-7AF8-4763-9C2B-03A99B35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依据：本地调研报告（2026-10-03）；SGLang[4-6]；IMPRESS[11]；Strata[10]。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FB8167-2E64-4E77-AAE8-ED767EBB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5/7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E29E54-B422-462D-A7B3-B81711DC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95450"/>
            <a:ext cx="5248275" cy="406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151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C1D433-FF0F-4253-83D0-31764169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192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1569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31569C"/>
                </a:solidFill>
                <a:latin typeface="微软雅黑"/>
                <a:ea typeface="微软雅黑"/>
                <a:cs typeface="微软雅黑"/>
              </a:rPr>
              <a:t>已完成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232F66-583F-46AE-8DAC-952C9D8F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52675"/>
            <a:ext cx="4762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参考资料：核对28项，含25篇论文与3项官方资料。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B60242-D662-49D7-B86F-058EE287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架构机制：梳理RadixAttention、三级缓存、预取等待与写出约束。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3B843E-40F7-4FCB-991F-730FEC01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33825"/>
            <a:ext cx="4762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端侧路径：画出RAM复用、SSD恢复和重新计算的选择关系。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F06A7A-F97E-4A69-8BB2-CB999442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48101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5151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8BFE38-7078-4B44-8277-0BA7A5B0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953000"/>
            <a:ext cx="4524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尚未完成：后端适配、KV恢复正确性验证和性能实测。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E47B74-2C02-4EC5-AA10-3BD9D35B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95450"/>
            <a:ext cx="5591175" cy="406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151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7A7188-84FB-48F6-A913-576B9A80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19275"/>
            <a:ext cx="4943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相关研究给出的边界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DFEA7C-AD8D-4652-9455-6A464B57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343150"/>
            <a:ext cx="1381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151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B2414C-409A-493B-8300-452116909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343150"/>
            <a:ext cx="3771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151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EBA0B3-4AB6-4FBA-A7BF-7C1FB644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28875"/>
            <a:ext cx="11715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SGLang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D91744-AF0A-4254-8CC5-9A031D02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28875"/>
            <a:ext cx="3524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前缀树管理同token前缀的复用[4]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6A343F-65AF-43CB-9638-F2140105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057525"/>
            <a:ext cx="1381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151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9D7065-091E-44C7-B19A-F5955334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57525"/>
            <a:ext cx="3771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151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E57A56-72EE-4D7D-A952-2968A1CA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43250"/>
            <a:ext cx="11715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HiCache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DFBD80-064C-4500-90C2-3A90AAD5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43250"/>
            <a:ext cx="3524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把KV延伸到主存与外部存储[5]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49DAD8-4B15-4291-9204-8A7F8274E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71900"/>
            <a:ext cx="1381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151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825474-E04E-480B-9FF1-305097E6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771900"/>
            <a:ext cx="3771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151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31D446-CDEC-47F0-B9F8-AEE0D32C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57625"/>
            <a:ext cx="11715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IMPRESS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EA52E7-3B1B-4288-9B8B-FC843ED7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857625"/>
            <a:ext cx="3524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指出磁盘KV也可能不划算[11]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9FDED4-3A82-465A-84AD-A6D01193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486275"/>
            <a:ext cx="1381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151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2F6051-71AC-41D3-8BBF-E621F640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86275"/>
            <a:ext cx="3771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151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5AF6ED-496F-4B43-96F4-0C304B6C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72000"/>
            <a:ext cx="11715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Strata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F0096D0-6C25-41A8-8859-1F1D6CAE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572000"/>
            <a:ext cx="3524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强调加载与调度应联合考虑[10]</a:t>
            </a:r>
          </a:p>
        </p:txBody>
      </p:sp>
    </p:spTree>
    <p:extLst>
      <p:ext uri="{BB962C8B-B14F-4D97-AF65-F5344CB8AC3E}">
        <p14:creationId xmlns:p14="http://schemas.microsoft.com/office/powerpoint/2010/main" val="12133778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4A5D1D-D002-4B58-AAA5-6C533A53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69C"/>
          </a:solidFill>
          <a:ln xmlns:a="http://schemas.openxmlformats.org/drawingml/2006/main" w="0">
            <a:solidFill>
              <a:srgbClr val="31569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9F9597-814E-48F1-BC31-688B9CD4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研究背景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100666-3745-410A-8E67-431FD6FB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研究内容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6811BD-143F-4992-8982-A272812C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技术路线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4627D6-9319-4CEE-B5DA-9C3BAA6E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研究基础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4B722D-F81B-40D9-91F7-3E9775EE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预期成果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E33AB8-0B36-47B4-9D94-67184107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66725"/>
            <a:ext cx="1466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2F"/>
          </a:solidFill>
          <a:ln xmlns:a="http://schemas.openxmlformats.org/drawingml/2006/main" w="0">
            <a:solidFill>
              <a:srgbClr val="D8A82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473CDB-F9FF-43E7-8D4D-62E880EE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429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预期成果：给出可验证的端侧缓存收益边界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0D26BE-1950-466D-9793-FA1F66F9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1096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A3A3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3A3A3A"/>
                </a:solidFill>
                <a:latin typeface="微软雅黑"/>
                <a:ea typeface="微软雅黑"/>
                <a:cs typeface="微软雅黑"/>
              </a:rPr>
              <a:t>目标不是预设HiCache一定适合端侧，而是说明哪些条件下复用真正缩短请求时间。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203DB2-AB8A-4258-B554-5123860CE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24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8DE"/>
          </a:solidFill>
          <a:ln xmlns:a="http://schemas.openxmlformats.org/drawingml/2006/main" w="0">
            <a:solidFill>
              <a:srgbClr val="D4D8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5E953E-7F70-4761-811A-B91E12C9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依据：本课题待验证方案；HiCache官方文档[5][6]。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D64E47-5F60-42F9-9F6C-E02B489C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6/7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EF8D16-6EA7-459E-BDBF-917AA6709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3486150" cy="2276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151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7FF689-72D1-4B77-A11F-1CEC617C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34861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69C"/>
          </a:solidFill>
          <a:ln xmlns:a="http://schemas.openxmlformats.org/drawingml/2006/main" w="0">
            <a:solidFill>
              <a:srgbClr val="31569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F3348E-21A3-4253-9C94-A073A7AA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838325"/>
            <a:ext cx="3181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成果1：可运行原型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C997D7-5D56-4A8E-A6F2-E485152A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47925"/>
            <a:ext cx="3048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同模型、同token前缀的KV保存、恢复与继续推理；通过logits对照验证正确性。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B753A9-0475-461A-B562-4ADC42BA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762125"/>
            <a:ext cx="3486150" cy="2276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151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B5C103-2C4B-47C7-B16F-81948B69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762125"/>
            <a:ext cx="34861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69C"/>
          </a:solidFill>
          <a:ln xmlns:a="http://schemas.openxmlformats.org/drawingml/2006/main" w="0">
            <a:solidFill>
              <a:srgbClr val="31569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37F4ED-77D3-4400-BB40-ACB46E6B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838325"/>
            <a:ext cx="3181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成果2：读算边界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CFF0E4-25EF-49EE-8382-325A32A3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47925"/>
            <a:ext cx="3048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分档测量前缀长度、SSD负载和内存预算下的冷恢复与重算耗时。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B19FF8-25D2-498D-A6BD-406EE8A9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62125"/>
            <a:ext cx="3486150" cy="2276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151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E303A1-5030-4917-9A91-857A5EDB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62125"/>
            <a:ext cx="34861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69C"/>
          </a:solidFill>
          <a:ln xmlns:a="http://schemas.openxmlformats.org/drawingml/2006/main" w="0">
            <a:solidFill>
              <a:srgbClr val="31569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217328-0356-451E-8C94-27CE3A99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838325"/>
            <a:ext cx="3181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成果3：调度比较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A7172E-18F0-48EA-9324-F375D1FB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47925"/>
            <a:ext cx="3048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与直接重算、尽力复用、等待完成和限时等待进行公平对照。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06E527-6217-4D36-A380-6666AED2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14825"/>
            <a:ext cx="11144250" cy="149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151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1D43D7-12DA-438C-B135-011B43C5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29125"/>
            <a:ext cx="1619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1569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31569C"/>
                </a:solidFill>
                <a:latin typeface="微软雅黑"/>
                <a:ea typeface="微软雅黑"/>
                <a:cs typeface="微软雅黑"/>
              </a:rPr>
              <a:t>结果判据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4922BA-1899-4DCD-9BE0-8E23BE4F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848225"/>
            <a:ext cx="10458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冷恢复更快：进一步验证有限等待、预取和写入预算是否改善TTFT。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2932F7-00B6-4559-B0B3-35F6DAE60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324475"/>
            <a:ext cx="10458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冷恢复更慢：转向RAM内复用、在途加载合并或只保存高价值前缀。</a:t>
            </a:r>
          </a:p>
        </p:txBody>
      </p:sp>
    </p:spTree>
    <p:extLst>
      <p:ext uri="{BB962C8B-B14F-4D97-AF65-F5344CB8AC3E}">
        <p14:creationId xmlns:p14="http://schemas.microsoft.com/office/powerpoint/2010/main" val="7721887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1559F1-0C23-4FB3-91D9-F3939848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09750"/>
            <a:ext cx="1219200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69C"/>
          </a:solidFill>
          <a:ln xmlns:a="http://schemas.openxmlformats.org/drawingml/2006/main" w="0">
            <a:solidFill>
              <a:srgbClr val="31569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6834C8-E8EB-4753-8936-A15781C5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05075"/>
            <a:ext cx="8953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5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5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请老师批评指正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005A94-E0FB-4E21-8A62-F637CDAD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38550"/>
            <a:ext cx="971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希望讨论：目标设备、精确KV复用范围、跨设备共享是否作为后续扩展</a:t>
            </a:r>
          </a:p>
        </p:txBody>
      </p:sp>
    </p:spTree>
    <p:extLst>
      <p:ext uri="{BB962C8B-B14F-4D97-AF65-F5344CB8AC3E}">
        <p14:creationId xmlns:p14="http://schemas.microsoft.com/office/powerpoint/2010/main" val="17225871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2026-10-05T05:07:23.5010000Z</dcterms:created>
  <dcterms:modified xsi:type="dcterms:W3CDTF">2026-10-05T05:07:23.5010000Z</dcterms:modified>
</coreProperties>
</file>