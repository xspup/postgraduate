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e96a4440a746d2" /><Relationship Type="http://schemas.openxmlformats.org/officeDocument/2006/relationships/extended-properties" Target="/docProps/app.xml" Id="Rbc932bd017eb443e" /><Relationship Type="http://schemas.openxmlformats.org/officeDocument/2006/relationships/officeDocument" Target="/ppt/presentation.xml" Id="R95dbee63504a49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16060ddd7c4060"/>
  </p:sldMasterIdLst>
  <p:notesMasterIdLst>
    <p:notesMasterId xmlns:r="http://schemas.openxmlformats.org/officeDocument/2006/relationships" r:id="R910bd8dbdb6b43ea"/>
  </p:notesMasterIdLst>
  <p:sldIdLst>
    <p:sldId xmlns:r="http://schemas.openxmlformats.org/officeDocument/2006/relationships" id="256" r:id="Re28592e34660424a"/>
    <p:sldId xmlns:r="http://schemas.openxmlformats.org/officeDocument/2006/relationships" id="257" r:id="Ra979eec6a99d4309"/>
    <p:sldId xmlns:r="http://schemas.openxmlformats.org/officeDocument/2006/relationships" id="258" r:id="R05dd1111218f41aa"/>
    <p:sldId xmlns:r="http://schemas.openxmlformats.org/officeDocument/2006/relationships" id="259" r:id="R6420bc8f5b994b5e"/>
    <p:sldId xmlns:r="http://schemas.openxmlformats.org/officeDocument/2006/relationships" id="260" r:id="R7671d9b00d034a92"/>
    <p:sldId xmlns:r="http://schemas.openxmlformats.org/officeDocument/2006/relationships" id="261" r:id="R95e4b215401b4889"/>
    <p:sldId xmlns:r="http://schemas.openxmlformats.org/officeDocument/2006/relationships" id="262" r:id="R883885e773bd4c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b965ffe67084831" /><Relationship Type="http://schemas.openxmlformats.org/officeDocument/2006/relationships/slideMaster" Target="/ppt/slideMasters/slideMaster1.xml" Id="R4216060ddd7c4060" /><Relationship Type="http://schemas.openxmlformats.org/officeDocument/2006/relationships/notesMaster" Target="/ppt/notesMasters/notesMaster1.xml" Id="R910bd8dbdb6b43ea" /><Relationship Type="http://schemas.openxmlformats.org/officeDocument/2006/relationships/presProps" Target="/ppt/presProps.xml" Id="Re8234f5ac8794065" /><Relationship Type="http://schemas.openxmlformats.org/officeDocument/2006/relationships/tableStyles" Target="/ppt/tableStyles.xml" Id="Re5cf2228d26f4a3f" /><Relationship Type="http://schemas.openxmlformats.org/officeDocument/2006/relationships/slide" Target="/ppt/slides/slide1.xml" Id="Re28592e34660424a" /><Relationship Type="http://schemas.openxmlformats.org/officeDocument/2006/relationships/slide" Target="/ppt/slides/slide2.xml" Id="Ra979eec6a99d4309" /><Relationship Type="http://schemas.openxmlformats.org/officeDocument/2006/relationships/slide" Target="/ppt/slides/slide3.xml" Id="R05dd1111218f41aa" /><Relationship Type="http://schemas.openxmlformats.org/officeDocument/2006/relationships/slide" Target="/ppt/slides/slide4.xml" Id="R6420bc8f5b994b5e" /><Relationship Type="http://schemas.openxmlformats.org/officeDocument/2006/relationships/slide" Target="/ppt/slides/slide5.xml" Id="R7671d9b00d034a92" /><Relationship Type="http://schemas.openxmlformats.org/officeDocument/2006/relationships/slide" Target="/ppt/slides/slide6.xml" Id="R95e4b215401b4889" /><Relationship Type="http://schemas.openxmlformats.org/officeDocument/2006/relationships/slide" Target="/ppt/slides/slide7.xml" Id="R883885e773bd4c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54a9e9ef8641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12ac5a90ae4002" /><Relationship Type="http://schemas.openxmlformats.org/officeDocument/2006/relationships/notesMaster" Target="/ppt/notesMasters/notesMaster1.xml" Id="R2e48620e8ce94a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1a0a3f5c93b4856" /><Relationship Type="http://schemas.openxmlformats.org/officeDocument/2006/relationships/notesMaster" Target="/ppt/notesMasters/notesMaster1.xml" Id="Rf186ab5c805d404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3cf879eaf345b0" /><Relationship Type="http://schemas.openxmlformats.org/officeDocument/2006/relationships/notesMaster" Target="/ppt/notesMasters/notesMaster1.xml" Id="Rd6e36e03bef149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17a585fbc094f61" /><Relationship Type="http://schemas.openxmlformats.org/officeDocument/2006/relationships/notesMaster" Target="/ppt/notesMasters/notesMaster1.xml" Id="R79f0ca3c8a4a4f3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772ad356d0e4a10" /><Relationship Type="http://schemas.openxmlformats.org/officeDocument/2006/relationships/notesMaster" Target="/ppt/notesMasters/notesMaster1.xml" Id="R7c8160d8cf9a4a5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479c73fe364d07" /><Relationship Type="http://schemas.openxmlformats.org/officeDocument/2006/relationships/notesMaster" Target="/ppt/notesMasters/notesMaster1.xml" Id="R052347ccb48549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a917bbfd3ea4fef" /><Relationship Type="http://schemas.openxmlformats.org/officeDocument/2006/relationships/notesMaster" Target="/ppt/notesMasters/notesMaster1.xml" Id="R82137b2ac521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依据组内五板块模板制作。正文为研究背景、研究内容、技术路线、研究基础、预期成果五页。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SGLang RadixAttention: https://arxiv.org/abs/2312.07104 。HiCache官方系统设计：https://docs.sglang.io/docs/advanced_features/hicache_design 。本页工控机案例与端侧约束取自本地调研报告第1、5章，属于研究场景。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左侧为本课题CPU-only候选路径，不表示SGLang HiCache已具备CPU-only推理后端。右侧三项为拟开展的研究任务，不是已经完成的实验。HiCache系统设计：https://docs.sglang.io/docs/advanced_features/hicache_design 。预取策略：https://docs.sglang.io/docs/advanced_features/hicache_best_practices 。正确性与收益边界见本地调研报告第5至6章。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HiCache三类预取停止策略见 https://docs.sglang.io/docs/advanced_features/hicache_best_practices 。IMPRESS：https://www.usenix.org/conference/fast25/presentation/chen-weijian-impress 。表中实验变量与通过条件是本课题拟验证方案，没有实测结论。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28项资料含25篇研究论文和3项官方资料，见本地参考文献核验记录。SGLang：https://arxiv.org/abs/2312.07104 。HiCache设计：https://docs.sglang.io/docs/advanced_features/hicache_design 。HiCache预取：https://docs.sglang.io/docs/advanced_features/hicache_best_practices 。IMPRESS：https://www.usenix.org/conference/fast25/presentation/chen-weijian-impress 。128 KiB/token与2048 token约256 MiB依据本地报告第5.3节的假设参数计算；1 GiB/s对应纯读取至少0.25秒，为条件示例，不是设备实测。当前尚未完成KV恢复或性能实验。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所有成果都是预期交付，不代表已经实现或实测。对照策略来自 https://docs.sglang.io/docs/advanced_features/hicache_best_practices 。可行性判断和转向条件见本地报告第5.6、6.7章。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讨论问题：1. CPU-only工控机能否作为第一阶段目标设备？2. 是否坚持完整前缀KV的精确复用？3. 跨实例/跨设备共享是否放在单设备收益边界之后？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73e74e20654b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14f19053cf4724" /><Relationship Type="http://schemas.openxmlformats.org/officeDocument/2006/relationships/slideLayout" Target="/ppt/slideLayouts/slideLayout1.xml" Id="Rd852cacf043f47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2cacf043f47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432e0725c4f53" /><Relationship Type="http://schemas.openxmlformats.org/officeDocument/2006/relationships/notesSlide" Target="/ppt/notesSlides/notesSlide1.xml" Id="R9787c09a1bdb461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e368bb792645f4" /><Relationship Type="http://schemas.openxmlformats.org/officeDocument/2006/relationships/notesSlide" Target="/ppt/notesSlides/notesSlide2.xml" Id="R59e49384927c47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e3ac074454a2a" /><Relationship Type="http://schemas.openxmlformats.org/officeDocument/2006/relationships/notesSlide" Target="/ppt/notesSlides/notesSlide3.xml" Id="R8125862beae74b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695bc9ade4f7c" /><Relationship Type="http://schemas.openxmlformats.org/officeDocument/2006/relationships/notesSlide" Target="/ppt/notesSlides/notesSlide4.xml" Id="R256b1b6c2ed4480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91298ef2040dd" /><Relationship Type="http://schemas.openxmlformats.org/officeDocument/2006/relationships/notesSlide" Target="/ppt/notesSlides/notesSlide5.xml" Id="Ra8207dffbbdf4a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99e02822c4e3b" /><Relationship Type="http://schemas.openxmlformats.org/officeDocument/2006/relationships/notesSlide" Target="/ppt/notesSlides/notesSlide6.xml" Id="R0f4115be98d84c4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4d793611c40b7" /><Relationship Type="http://schemas.openxmlformats.org/officeDocument/2006/relationships/notesSlide" Target="/ppt/notesSlides/notesSlide7.xml" Id="R70d17f1fa28b4f7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6F7918-3A18-4F4A-A5FA-AB6B358C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1E6E82-6904-4481-AF03-5FC90805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面向端侧大模型推理的</a:t>
            </a:r>
          </a:p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HiCache架构适配与缓存调度研究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C7185C-7BB8-42C8-8BBC-20896D30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95287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组内研究方向汇报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31CDC-3C03-4409-BB39-CDD704D3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552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2026年10月9日</a:t>
            </a:r>
          </a:p>
        </p:txBody>
      </p:sp>
    </p:spTree>
    <p:extLst>
      <p:ext uri="{BB962C8B-B14F-4D97-AF65-F5344CB8AC3E}">
        <p14:creationId xmlns:p14="http://schemas.microsoft.com/office/powerpoint/2010/main" val="18536748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03B968-A046-47FD-8645-9F42BC75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ACC26E-684E-4D88-BB02-A696B99B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083DA-D7C0-4DE2-A47B-66FD6F0D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2E50B1-BA8A-4663-9CEC-5C87C7DA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D5DF75-ED43-4F73-A48C-9D03B30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48C31-5A48-4AF2-9243-600766DC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1CF617-D65E-4428-B530-D6042309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16959-0D1D-4793-A23D-E77E9CAA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研究背景：同一文档被重复计算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57E55-CFCA-4AE8-88BF-F92C7CFB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场景：离线工控机反复查询同一份设备手册，问题不同，公共前缀相同。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5CFB83-F0A6-4BFC-9CBE-672BBA37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54571-E438-446E-9B9D-0F8F555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依据：SGLang论文[4]；HiCache官方设计[5]。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2651F-E2E9-4CCA-A81C-75CAA22C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0BA0F-53F3-44D4-A370-53E1A47B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8578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0D7F2-C44F-43E3-B842-BECB6EBA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2476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固定输入模板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786133-CBEA-4D3F-A60D-1F0A8490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3622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B6DBF0-2F38-479A-A369-14918679B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66975"/>
            <a:ext cx="21717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系统提示词＋设备手册</a:t>
            </a:r>
          </a:p>
          <a:p xmlns:a="http://schemas.openxmlformats.org/drawingml/2006/main">
            <a:pPr algn="ctr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＋固定分隔符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E31FD7-82E9-400D-AFF1-806532CC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162175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EAC9EA-DFFD-4C51-8264-38829EF96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19325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问题A</a:t>
            </a:r>
          </a:p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故障码E17如何处理？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75DE1A-63F5-4459-B3EF-F0964E13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24200"/>
            <a:ext cx="22669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A62630-8458-4074-A02A-E1DA4D715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181350"/>
            <a:ext cx="2076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问题B</a:t>
            </a:r>
          </a:p>
          <a:p xmlns:a="http://schemas.openxmlformats.org/drawingml/2006/main">
            <a:pPr algn="ctr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处理后检查哪些传感器？</a:t>
            </a:r>
          </a:p>
        </p:txBody>
      </p:sp>
      <p:cxnSp>
        <p:nvCxnSpPr>
          <p:cNvPr id="5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3143250" y="2524125"/>
            <a:ext cx="647700" cy="37623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54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143250" y="2900363"/>
            <a:ext cx="647700" cy="585788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DFA61D-D1A0-4AF0-B8BB-6E59676EE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14775"/>
            <a:ext cx="54102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公共前缀的KV仅需计算一次，问题部分各自继续Prefill。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72C36-F61E-450D-B1F0-61903A1C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695450"/>
            <a:ext cx="50196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ACAF8-03DE-42CB-BF6D-72300678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1809750"/>
            <a:ext cx="4524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端侧与云侧的关键差别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59617D2-9160-4601-9C82-80DCF6EE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3336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无独立GPU：模型权重与活动KV共用RAM。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2253CB-AF04-42F6-A7E2-1BBE1244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29813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历史KV在SSD：命中后仍需读取和恢复。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28BAE7-0842-4108-93CA-1B30728C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3629025"/>
            <a:ext cx="44672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共享CPU与内存带宽：读取可能慢于重算。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90D28E-E92C-48D1-B0DD-F123C76F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62475"/>
            <a:ext cx="111252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A8924B-59FD-44A4-9EFA-ECC3210A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14875"/>
            <a:ext cx="1714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4AEB57-9D8E-4F0A-BFD5-A5E4F813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76825"/>
            <a:ext cx="10601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给定相同token前缀，系统应当直接复用RAM、从SSD加载，还是重新计算？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613158-4522-4069-BBAF-176A1648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06013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评价目标：前台请求的首token时间（TTFT），并检查正确性、峰值内存与后台I/O干扰。</a:t>
            </a:r>
          </a:p>
        </p:txBody>
      </p:sp>
    </p:spTree>
    <p:extLst>
      <p:ext uri="{BB962C8B-B14F-4D97-AF65-F5344CB8AC3E}">
        <p14:creationId xmlns:p14="http://schemas.microsoft.com/office/powerpoint/2010/main" val="8465997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5EF549-E341-4FEE-8D41-E3601423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8BDC47-AB4C-4798-BFC2-841263AD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31F7AD-22B4-4092-A234-B790CAF9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B2368A-5789-4E7F-BE73-CF44C1CE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736D5-6E92-4AC1-836C-C6F5E351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98C652-EB07-4A1D-8203-9394F57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3EA75-9201-424A-9067-7DDAC722E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FEE9E0-734C-44A4-9117-5E528BB3C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研究内容：CPU-only前缀KV复用与读算选择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07EDE-2392-46DA-99A2-C3E9D55C3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先限定单设备、同模型、完全相同的token前缀；手机与跨设备是后续验证对象。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1F712-A747-4FEB-AF75-24F9D68B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83699-C796-4652-95CF-B6B4E99F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依据：HiCache官方设计[5]；本课题端侧适配分析。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3B933A-FA2B-41B5-97C0-76E33E0A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3/7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18D086-6FA1-443C-8191-16524DF7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85925"/>
            <a:ext cx="709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CPU-only候选数据路径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081F52-119A-47CD-923C-6FDAFEC6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47925"/>
            <a:ext cx="1085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A2D9C-9D16-4844-A29F-F42E3B01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05075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再次提问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FB4B6-F653-4464-B18E-87BE8C9B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24100"/>
            <a:ext cx="16383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A47EE6-A961-4043-A881-0EE16731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381250"/>
            <a:ext cx="1447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Radix前缀索引</a:t>
            </a:r>
          </a:p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查位置与状态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AF277F-C711-4F67-9ECB-1F59EF7F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324100"/>
            <a:ext cx="1485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16CC4-C2B2-455A-BCB3-E6306D3A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2381250"/>
            <a:ext cx="12954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CPU推理</a:t>
            </a:r>
          </a:p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复用或重算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CD4EC0-4280-4F96-AA47-3AF6982F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447925"/>
            <a:ext cx="76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AD3CD7-3A02-4F2A-B155-7D1439297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505075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回答</a:t>
            </a:r>
          </a:p>
        </p:txBody>
      </p:sp>
      <p:cxnSp>
        <p:nvCxnSpPr>
          <p:cNvPr id="66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1657350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67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657600" y="2790825"/>
            <a:ext cx="14001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68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543675" y="2790825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554560-7509-4C88-90D1-C15378EF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95725"/>
            <a:ext cx="1952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D67730-E367-44C0-BB6B-24C19BE2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3952875"/>
            <a:ext cx="1762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SSD：历史前缀KV</a:t>
            </a:r>
          </a:p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按需恢复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7ACC87-10C6-4D5F-8E76-FF583964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95725"/>
            <a:ext cx="20383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767A3-7FB7-462D-82E0-5F0B5114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952875"/>
            <a:ext cx="1847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RAM：活动KV</a:t>
            </a:r>
          </a:p>
          <a:p xmlns:a="http://schemas.openxmlformats.org/drawingml/2006/main">
            <a:pPr algn="ctr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还需容纳模型和请求</a:t>
            </a:r>
          </a:p>
        </p:txBody>
      </p:sp>
      <p:cxnSp>
        <p:nvCxnSpPr>
          <p:cNvPr id="73" name=""/>
          <p:cNvCxnSpPr>
            <a:stCxn xmlns:a="http://schemas.openxmlformats.org/drawingml/2006/main" id="16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>
            <a:off x="2838450" y="3257550"/>
            <a:ext cx="166688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74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981450" y="4352925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75" name=""/>
          <p:cNvCxnSpPr>
            <a:stCxn xmlns:a="http://schemas.openxmlformats.org/drawingml/2006/main" id="27" idx="0"/>
            <a:endCxn xmlns:a="http://schemas.openxmlformats.org/drawingml/2006/main" id="18" idx="2"/>
          </p:cNvCxnSpPr>
          <p:nvPr/>
        </p:nvCxnSpPr>
        <p:spPr>
          <a:xfrm xmlns:a="http://schemas.openxmlformats.org/drawingml/2006/main" flipH="1" flipV="1">
            <a:off x="5800725" y="3257550"/>
            <a:ext cx="57150" cy="6381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390008-D9F7-484B-9D69-054A9FF1A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105400"/>
            <a:ext cx="70675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RAM命中直接用；SSD命中比较恢复与重算；未命中则重算。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7A9E1B-5C53-4770-9EE1-C03A7A099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85925"/>
            <a:ext cx="3790950" cy="382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2633FF-445A-4EBE-962E-B1B98EC5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09750"/>
            <a:ext cx="3390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三个研究任务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0E8E19-59EB-4C10-BCBD-E6B08946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0990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C58D10-0C5D-4B3B-B41D-A7E6B7CC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133850"/>
            <a:ext cx="3409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104449-8FA4-4B44-90CE-9E473139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1932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  状态能否正确恢复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9754C5-3671-4D2A-B4D0-BBD63997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62225"/>
            <a:ext cx="335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实现前缀匹配和KV保存、导入，</a:t>
            </a:r>
          </a:p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用同一输入的logits对照验证。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FBB96B-FC09-43A1-BA58-597BDC73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813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读取何时快于重算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9B1533-F146-47B1-8F05-0074D461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33775"/>
            <a:ext cx="335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测SSD读取与恢复、CPU Prefill耗时，</a:t>
            </a:r>
          </a:p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同时检查RAM能否容纳所需状态。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A729E9-DC8C-4E5F-88E4-0214D7D8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957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  预取与写入怎样干扰请求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28B2F0-6ED9-4AC2-B1DA-7A5C02B4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57725"/>
            <a:ext cx="335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比较等待策略，限制后台写入占用，</a:t>
            </a:r>
          </a:p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观察前台TTFT与I/O竞争。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C5E904-6BA4-4706-B011-88B9A34D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24525"/>
            <a:ext cx="11087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15151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CD066B-64E5-49E0-AE60-2D56CE85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0839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范围：同设备、同模型、精确前缀KV复用；跨实例和跨设备共享作为后续扩展。</a:t>
            </a:r>
          </a:p>
        </p:txBody>
      </p:sp>
    </p:spTree>
    <p:extLst>
      <p:ext uri="{BB962C8B-B14F-4D97-AF65-F5344CB8AC3E}">
        <p14:creationId xmlns:p14="http://schemas.microsoft.com/office/powerpoint/2010/main" val="1189889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A16105B-6932-4EB2-B53C-DE60664C8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CF30B-6730-4B57-A1F7-5BB68278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50EAC-6703-4AAA-89F2-4B3134A2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D6342-C9CB-46A5-80EC-13148434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C679B5-886E-4637-BA6E-D3B830D5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F8FEF-0F46-4280-98AA-77FA5451A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35BBF-C1BF-4BE1-B7CF-89C32F4E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4AD9A-ECE7-4404-8A79-061F852F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技术路线：正确性、读算边界、调度对照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E0714D-0C6D-43F6-995F-2FF2EEFA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每一步都有可否定条件；上一阶段不成立，就调整方向，不直接叠加复杂策略。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49E52-A884-4613-B72C-BDE8A74E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C09B2-6D8C-4B5F-8AB1-813C7A47A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依据：HiCache预取策略[5][6]；IMPRESS[11]；本课题实验方案。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46C2BA-C9B9-48CA-B0F1-4070DD308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06547-1DCF-495E-870A-3544B616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2DA0DE-52C5-4C53-9D45-E53FF9EB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阶段1：状态正确性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KV导出→恢复→继续推理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ACD1E1-BD65-4CE2-9F27-41AE4104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59E001-6CFE-47E4-AC58-053515C2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阶段2：读算临界点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实测SSD恢复与CPU重算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217A61-8144-460B-BB94-AE955B412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3333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EAB5A1-8951-4EEE-A19C-BA17F5AF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7430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阶段3：调度对照</a:t>
            </a:r>
          </a:p>
          <a:p xmlns:a="http://schemas.openxmlformats.org/drawingml/2006/main">
            <a:pPr algn="ctr">
              <a:def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预取等待与后台写入预算</a:t>
            </a:r>
          </a:p>
        </p:txBody>
      </p:sp>
      <p:cxnSp>
        <p:nvCxnSpPr>
          <p:cNvPr id="72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57625" y="21621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cxnSp>
        <p:nvCxnSpPr>
          <p:cNvPr id="73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62875" y="216217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151515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90D8FA-1FF3-48AE-8B2E-8780553B1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09900"/>
            <a:ext cx="223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C85124-668D-4C78-8F9B-21E796263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057525"/>
            <a:ext cx="2085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实验环节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EF41A7-2841-4808-8806-E4A1CD02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09900"/>
            <a:ext cx="37052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8C12B-9A09-4648-A81B-1BA3101B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057525"/>
            <a:ext cx="3552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操纵变量与对照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8D98CD-B3AF-4CB1-A207-0E529F68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009900"/>
            <a:ext cx="25336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F342D8-4B55-4370-B147-2E8967F00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05752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记录指标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140C25-368F-48CD-AAF2-2F1F45F5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0099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83B138-12C7-4EFE-BD54-21FF0BEF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057525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通过条件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979CC6-13BF-40E5-A2F4-539EEA85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6710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C7CAEC-3F54-413F-8936-2A90A701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4330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恢复正确性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DE8288-9A9C-4F20-BF2B-B2385AD9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6710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08A43F-8B9D-43A6-A4AE-5720F18C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同输入：保存恢复 vs 完全重算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95F14A-6532-4F1E-965D-A6AFF79FC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4671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73AB67-1304-4F01-96D0-FA32D770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4330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logits差异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82C540-9B6E-4950-B59D-DD62E79E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671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E9E789-27DA-41DD-8AAE-443902EC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4330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状态兼容且输出可继续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F71A2B-52DA-4BB4-BA9C-73256C85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005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7AC42C-84B8-4744-BC2D-1C895A910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读算边界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0B2031-C455-44F7-98C1-75E6E476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21005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3630CA-EAB8-4378-8A80-B1C723B2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前缀长度、RAM预算、SSD负载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D4D7D5-2E4F-49E5-9C62-77F1D20D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21005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8623C6-85FF-4E94-BDA5-A4ECF848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28625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TTFT、读取字节、峰值RAM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BB0DA9-FB76-44DD-B27A-6DAECB24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1005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CA1E21-892D-4950-9D52-09AFDEFB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28625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至少存在可重复的获益区间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843E8F-B81D-4433-AB7D-F5F4B26E0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22383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5DF8FA1-3699-416B-9348-D0F059CFE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20478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策略比较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F83456C-03D6-48D2-A89D-940479A0B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953000"/>
            <a:ext cx="37052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C67344-906D-4C09-A547-E2894C14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29200"/>
            <a:ext cx="35147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重算／固定等待／有限等待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DC4515-8739-4065-87FC-D47468B4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953000"/>
            <a:ext cx="25336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AA823C7-AFB8-4760-B69D-41BA0753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5029200"/>
            <a:ext cx="23431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P50/P95 TTFT、I/O干扰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65CEF9-CE00-4AA2-8830-3D9B68A9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53000"/>
            <a:ext cx="2667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D8DE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6EA68A-7C2F-4699-925B-119156BF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029200"/>
            <a:ext cx="2476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优于合适的固定基线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0F133C-49A6-4666-9262-F2E4685E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848350"/>
            <a:ext cx="110490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若冷恢复始终慢于重算，则停止冷加载调度优化，转向RAM内复用或写入筛选。</a:t>
            </a:r>
          </a:p>
        </p:txBody>
      </p:sp>
    </p:spTree>
    <p:extLst>
      <p:ext uri="{BB962C8B-B14F-4D97-AF65-F5344CB8AC3E}">
        <p14:creationId xmlns:p14="http://schemas.microsoft.com/office/powerpoint/2010/main" val="7750698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7C452-87D8-4381-B301-23B8D801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1A55F-2B7E-4686-99B2-375E415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6AC41-7FC1-458C-921E-44BEFCA2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829E6-FB09-4611-977F-0CE699FD0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6117B-B396-4A78-9992-A9897438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1BD6C-D3AB-435F-8FA1-6CD3CD1F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7C93D-BFEB-42A6-864D-DB784046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DC006-3523-488A-9CC3-97651110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研究基础：机制、端侧路径与开销量级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3618E-E4CE-45A9-B064-D63B7700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资料核查与数量级估算已完成；KV恢复正确性和性能收益仍待实测。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D54EE3-4485-4FA3-851D-FAC1D63C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C03146-0E48-49BA-BEB3-33578658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依据：调研报告第3—5章；SGLang[4]、HiCache[5][6]、IMPRESS[11]。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8B48FF-D43B-4CFD-B668-0F066181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5/7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16FE2-2D50-4CC9-9162-E0F146D1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95450"/>
            <a:ext cx="52578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3F36A1-FE4A-4A4A-9492-3DD2CC79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95450"/>
            <a:ext cx="55911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D7FB3B-237D-458B-B6A4-578938D9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28800"/>
            <a:ext cx="4829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已厘清HiCache的机制边界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4CEBA9-2F7E-4568-BE6C-66010C805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314575"/>
            <a:ext cx="48291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相同token前缀可通过RadixAttention复用。HiCache按显存、实例主存和外部存储分层管理KV。[4][5]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AB3DC-B465-443A-9126-FD065372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48291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显存与实例主存属于单实例；跨实例复用要通过共享存储。预取等待和KV写出是两类决策。[5][6]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1422D-14E9-430A-AB28-8622F60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482917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IMPRESS提示磁盘命中也未必缩短TTFT，因此还需考虑状态何时就绪。[11]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B761CA-FB98-42EC-AAFD-695F265F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端侧映射与开销量级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0B496-9E00-453B-833F-BA146B06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14575"/>
            <a:ext cx="5162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CPU推理：权重与活动KV同处主存。历史前缀可留在主存或固态盘。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805D7-897F-4B79-BD99-C2004BCA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62275"/>
            <a:ext cx="5162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同一手册再次提问：主存直接复用；固态盘中的KV与重算比较。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D73987-8900-4B68-B8EF-F7FC37EF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676650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容量示例：32层、8个KV头、头维128、每元素2字节。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D24838-72F5-4D07-A887-D48F20AD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62425"/>
            <a:ext cx="51625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每个token约128 KiB；2048个token约256 MiB。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0CAE67-EECC-45E1-9213-28415308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10100"/>
            <a:ext cx="51625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若读速为每秒1 GiB，纯读取至少0.25秒。假设估算，非实测。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5C3681-0293-4D55-A1ED-54684EE2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95900"/>
            <a:ext cx="11144250" cy="771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482582-F8A7-4446-A146-7FBDD28B0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10200"/>
            <a:ext cx="53721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已完成：28项资料核对、调研报告、系统与端侧路径图。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FA23A0-A472-46AC-8E63-3E367A7C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410200"/>
            <a:ext cx="5200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待验证：后端KV导出/恢复、logits对照、TTFT实测。</a:t>
            </a:r>
          </a:p>
        </p:txBody>
      </p:sp>
    </p:spTree>
    <p:extLst>
      <p:ext uri="{BB962C8B-B14F-4D97-AF65-F5344CB8AC3E}">
        <p14:creationId xmlns:p14="http://schemas.microsoft.com/office/powerpoint/2010/main" val="15635083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BCB838-3DB0-4074-9D22-9957EAD4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D4D622-F90A-4B35-82F7-7112BDC1E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C106B-873C-4BD0-AC2E-1A4EA17B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研究内容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6DF20-CC7C-4C6A-8371-6BFC3A5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技术路线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6ED453-E3A6-4206-93E5-7F7BC018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研究基础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A99F09-E825-4C0D-A20B-F16A817C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95250"/>
            <a:ext cx="209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预期成果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3E4CEE-4F8E-428E-BD9B-78DD90B5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6725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82F"/>
          </a:solidFill>
          <a:ln xmlns:a="http://schemas.openxmlformats.org/drawingml/2006/main" w="0">
            <a:solidFill>
              <a:srgbClr val="D8A82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2449A-4DE1-400E-8090-1BC16755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1114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预期成果：给出可验证的端侧缓存收益边界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71117-EDCE-4F78-BD59-F14309F2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09675"/>
            <a:ext cx="110966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3A3A3A"/>
                </a:solidFill>
                <a:latin typeface="微软雅黑"/>
                <a:ea typeface="微软雅黑"/>
                <a:cs typeface="微软雅黑"/>
              </a:rPr>
              <a:t>目标不是预设HiCache一定适合端侧，而是说明哪些条件下复用真正缩短请求时间。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449EE7-F911-44B4-91ED-05288F5EA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246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8DE"/>
          </a:solidFill>
          <a:ln xmlns:a="http://schemas.openxmlformats.org/drawingml/2006/main" w="0">
            <a:solidFill>
              <a:srgbClr val="D4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808196-BD06-49E6-A086-0F76EB3A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29375"/>
            <a:ext cx="10096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依据：本课题待验证方案；HiCache官方文档[5][6]。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46CFD-E827-42BB-B392-9CB6F0BD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29375"/>
            <a:ext cx="52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6/7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15F92C-32A3-45A4-A2AF-C7BFA703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150B69-3959-4E35-9D86-3F291B78E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607C3-2D70-49B1-90EB-A43F7F5B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成果1：可运行原型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CA90D8-872A-426B-93FF-B35BE58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同模型、同token前缀的KV保存、恢复与继续推理；通过logits对照验证正确性。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6CBBE7-3692-4FA5-A443-EBFF49A9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282ABD-508A-401C-AC42-DC61A9F9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72A16-FE4F-436C-B400-B7C6372D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成果2：读算边界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97E8A-9697-4086-9069-48CDD685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分档测量前缀长度、SSD负载和内存预算下的冷恢复与重算耗时。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2FC761-0CEB-457A-93E9-69FA469A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486150" cy="2276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3F162D-58EB-4F1A-B41B-C23199128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762125"/>
            <a:ext cx="348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F6874B-3A4F-434D-935C-6D4CF445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1838325"/>
            <a:ext cx="3181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成果3：调度比较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A38BC6-1B3F-43D7-A632-F128E7FFA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47925"/>
            <a:ext cx="30480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与直接重算、尽力复用、等待完成和限时等待进行公平对照。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88436F-A65E-4A8D-8D58-1DD42280A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14825"/>
            <a:ext cx="1114425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151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3A1FA3-E63D-4871-86AA-9CEC1057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619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1569C"/>
                </a:solidFill>
                <a:latin typeface="微软雅黑"/>
                <a:ea typeface="微软雅黑"/>
                <a:cs typeface="微软雅黑"/>
              </a:rPr>
              <a:t>结果判据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DBFD6-C238-45B5-8B3A-2087C4275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48225"/>
            <a:ext cx="10458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冷恢复更快：进一步验证有限等待、预取和写入预算是否改善TTFT。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2DEE1-A182-4D0D-8234-4D2410D87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10458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冷恢复更慢：转向RAM内复用、在途加载合并或只保存高价值前缀。</a:t>
            </a:r>
          </a:p>
        </p:txBody>
      </p:sp>
    </p:spTree>
    <p:extLst>
      <p:ext uri="{BB962C8B-B14F-4D97-AF65-F5344CB8AC3E}">
        <p14:creationId xmlns:p14="http://schemas.microsoft.com/office/powerpoint/2010/main" val="1356075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D3883-0B47-43F5-85F6-57FB01D6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09750"/>
            <a:ext cx="12192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69C"/>
          </a:solidFill>
          <a:ln xmlns:a="http://schemas.openxmlformats.org/drawingml/2006/main" w="0">
            <a:solidFill>
              <a:srgbClr val="31569C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9D9E1-4F3F-45DF-993B-6485D65B5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05075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5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5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请老师批评指正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EFFF4-7A9C-4D2A-8054-9B28236F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971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希望讨论：目标设备、精确KV复用范围、跨设备共享是否作为后续扩展</a:t>
            </a:r>
          </a:p>
        </p:txBody>
      </p:sp>
    </p:spTree>
    <p:extLst>
      <p:ext uri="{BB962C8B-B14F-4D97-AF65-F5344CB8AC3E}">
        <p14:creationId xmlns:p14="http://schemas.microsoft.com/office/powerpoint/2010/main" val="9488780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2026-10-05T05:30:24.0620000Z</dcterms:created>
  <dcterms:modified xsi:type="dcterms:W3CDTF">2026-10-05T05:30:24.0620000Z</dcterms:modified>
</coreProperties>
</file>