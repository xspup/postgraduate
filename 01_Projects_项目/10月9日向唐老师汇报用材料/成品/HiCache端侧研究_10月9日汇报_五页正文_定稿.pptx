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7ca24fb2e46ec" /><Relationship Type="http://schemas.openxmlformats.org/officeDocument/2006/relationships/extended-properties" Target="/docProps/app.xml" Id="R9979550ba36041a9" /><Relationship Type="http://schemas.openxmlformats.org/officeDocument/2006/relationships/officeDocument" Target="/ppt/presentation.xml" Id="R11b94eac367245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2d023330f241f9"/>
  </p:sldMasterIdLst>
  <p:notesMasterIdLst>
    <p:notesMasterId xmlns:r="http://schemas.openxmlformats.org/officeDocument/2006/relationships" r:id="Rab1e40bd4304441b"/>
  </p:notesMasterIdLst>
  <p:sldIdLst>
    <p:sldId xmlns:r="http://schemas.openxmlformats.org/officeDocument/2006/relationships" id="256" r:id="R8f9a98be81cb4a94"/>
    <p:sldId xmlns:r="http://schemas.openxmlformats.org/officeDocument/2006/relationships" id="257" r:id="R1826c21e2c874232"/>
    <p:sldId xmlns:r="http://schemas.openxmlformats.org/officeDocument/2006/relationships" id="258" r:id="Rba12d6be98a04646"/>
    <p:sldId xmlns:r="http://schemas.openxmlformats.org/officeDocument/2006/relationships" id="259" r:id="R5960ae05349b4cd5"/>
    <p:sldId xmlns:r="http://schemas.openxmlformats.org/officeDocument/2006/relationships" id="260" r:id="R84ad51d4b9484c0a"/>
    <p:sldId xmlns:r="http://schemas.openxmlformats.org/officeDocument/2006/relationships" id="261" r:id="Rf3d0649703394925"/>
    <p:sldId xmlns:r="http://schemas.openxmlformats.org/officeDocument/2006/relationships" id="262" r:id="R41e7f24891da4a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7a9071a6e45ec" /><Relationship Type="http://schemas.openxmlformats.org/officeDocument/2006/relationships/slideMaster" Target="/ppt/slideMasters/slideMaster1.xml" Id="R112d023330f241f9" /><Relationship Type="http://schemas.openxmlformats.org/officeDocument/2006/relationships/notesMaster" Target="/ppt/notesMasters/notesMaster1.xml" Id="Rab1e40bd4304441b" /><Relationship Type="http://schemas.openxmlformats.org/officeDocument/2006/relationships/presProps" Target="/ppt/presProps.xml" Id="Rd0be15ac29b44fba" /><Relationship Type="http://schemas.openxmlformats.org/officeDocument/2006/relationships/tableStyles" Target="/ppt/tableStyles.xml" Id="R9fbbbb91205e4a04" /><Relationship Type="http://schemas.openxmlformats.org/officeDocument/2006/relationships/slide" Target="/ppt/slides/slide1.xml" Id="R8f9a98be81cb4a94" /><Relationship Type="http://schemas.openxmlformats.org/officeDocument/2006/relationships/slide" Target="/ppt/slides/slide2.xml" Id="R1826c21e2c874232" /><Relationship Type="http://schemas.openxmlformats.org/officeDocument/2006/relationships/slide" Target="/ppt/slides/slide3.xml" Id="Rba12d6be98a04646" /><Relationship Type="http://schemas.openxmlformats.org/officeDocument/2006/relationships/slide" Target="/ppt/slides/slide4.xml" Id="R5960ae05349b4cd5" /><Relationship Type="http://schemas.openxmlformats.org/officeDocument/2006/relationships/slide" Target="/ppt/slides/slide5.xml" Id="R84ad51d4b9484c0a" /><Relationship Type="http://schemas.openxmlformats.org/officeDocument/2006/relationships/slide" Target="/ppt/slides/slide6.xml" Id="Rf3d0649703394925" /><Relationship Type="http://schemas.openxmlformats.org/officeDocument/2006/relationships/slide" Target="/ppt/slides/slide7.xml" Id="R41e7f24891da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13b16ef14c4d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ac6c597a9c4d2d" /><Relationship Type="http://schemas.openxmlformats.org/officeDocument/2006/relationships/notesMaster" Target="/ppt/notesMasters/notesMaster1.xml" Id="Rf6dc82f8254742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7168e6eb7e4a64" /><Relationship Type="http://schemas.openxmlformats.org/officeDocument/2006/relationships/notesMaster" Target="/ppt/notesMasters/notesMaster1.xml" Id="Rd9b850d24e7048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7d6aa2b0454f8b" /><Relationship Type="http://schemas.openxmlformats.org/officeDocument/2006/relationships/notesMaster" Target="/ppt/notesMasters/notesMaster1.xml" Id="Re4dbd5f869e642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6fb3d04d0a4c6b" /><Relationship Type="http://schemas.openxmlformats.org/officeDocument/2006/relationships/notesMaster" Target="/ppt/notesMasters/notesMaster1.xml" Id="Rffa041b685b54a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30a47db5d944ca" /><Relationship Type="http://schemas.openxmlformats.org/officeDocument/2006/relationships/notesMaster" Target="/ppt/notesMasters/notesMaster1.xml" Id="R8cd146755c2b48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4ac2978db24c98" /><Relationship Type="http://schemas.openxmlformats.org/officeDocument/2006/relationships/notesMaster" Target="/ppt/notesMasters/notesMaster1.xml" Id="Rc19a76c9466e4d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1856aec90248ec" /><Relationship Type="http://schemas.openxmlformats.org/officeDocument/2006/relationships/notesMaster" Target="/ppt/notesMasters/notesMaster1.xml" Id="R842f2cd93d8a49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依据组内五板块模板制作。正文为研究背景、研究内容、技术路线、研究基础、预期成果五页。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SGLang RadixAttention: https://arxiv.org/abs/2312.07104 。HiCache官方系统设计：https://docs.sglang.io/docs/advanced_features/hicache_design 。本页工控机案例与端侧约束取自本地调研报告第1、5章，属于研究场景。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图为本课题CPU-only候选路径，不表示SGLang HiCache已具备CPU-only推理后端。HiCache系统设计：https://docs.sglang.io/docs/advanced_features/hicache_design 。精确复用兼容性要求见本地报告第5.2节。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HiCache三类预取停止策略见 https://docs.sglang.io/docs/advanced_features/hicache_best_practices 。IMPRESS：https://www.usenix.org/conference/fast25/presentation/chen-weijian-impress 。表中实验变量与通过条件是本课题拟验证方案，没有实测结论。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本地报告共28条参考文献，其中25篇研究论文、3项官方资料；见报告第1.4节。SGLang：https://arxiv.org/abs/2312.07104 。HiCache：https://docs.sglang.io/docs/advanced_features/hicache_design 。IMPRESS：https://www.usenix.org/conference/fast25/presentation/chen-weijian-impress 。Strata：https://www.usenix.org/conference/osdi26/presentation/xie-zhiqiang 。当前无实验数据。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所有成果都是预期交付，不代表已经实现或实测。对照策略来自 https://docs.sglang.io/docs/advanced_features/hicache_best_practices 。可行性判断和转向条件见本地报告第5.6、6.7章。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讨论问题：1. CPU-only工控机能否作为第一阶段目标设备？2. 是否坚持完整前缀KV的精确复用？3. 跨实例/跨设备共享是否放在单设备收益边界之后？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0dbaea9c24d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f1e4f5e5704f0a" /><Relationship Type="http://schemas.openxmlformats.org/officeDocument/2006/relationships/slideLayout" Target="/ppt/slideLayouts/slideLayout1.xml" Id="R872da65e804c47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da65e804c47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c2768f6e14499" /><Relationship Type="http://schemas.openxmlformats.org/officeDocument/2006/relationships/notesSlide" Target="/ppt/notesSlides/notesSlide1.xml" Id="R6160caa1411b4d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f858f468a47ba" /><Relationship Type="http://schemas.openxmlformats.org/officeDocument/2006/relationships/notesSlide" Target="/ppt/notesSlides/notesSlide2.xml" Id="R7cd6e49393f043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94ec0ecd84167" /><Relationship Type="http://schemas.openxmlformats.org/officeDocument/2006/relationships/notesSlide" Target="/ppt/notesSlides/notesSlide3.xml" Id="R032f26b697a345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5c8d27d684efa" /><Relationship Type="http://schemas.openxmlformats.org/officeDocument/2006/relationships/notesSlide" Target="/ppt/notesSlides/notesSlide4.xml" Id="Rb008b521685e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a0a27f9624acc" /><Relationship Type="http://schemas.openxmlformats.org/officeDocument/2006/relationships/notesSlide" Target="/ppt/notesSlides/notesSlide5.xml" Id="R6ef8785bd9d041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23f8e125a4ec8" /><Relationship Type="http://schemas.openxmlformats.org/officeDocument/2006/relationships/notesSlide" Target="/ppt/notesSlides/notesSlide6.xml" Id="R502c93f14a4e4d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21ba1ae704ed0" /><Relationship Type="http://schemas.openxmlformats.org/officeDocument/2006/relationships/notesSlide" Target="/ppt/notesSlides/notesSlide7.xml" Id="R65ace37f69724c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49D3A-3FD2-4F79-9DB9-84EF54E4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69C0D-C131-4947-8BD6-C172FE30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面向端侧大模型推理的</a:t>
            </a:r>
          </a:p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HiCache架构适配与缓存调度研究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E2A43-866F-4904-BFFF-4124878C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528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组内研究方向汇报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F7021-700E-43B9-90A1-76C35F2E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2026年10月9日</a:t>
            </a:r>
          </a:p>
        </p:txBody>
      </p:sp>
    </p:spTree>
    <p:extLst>
      <p:ext uri="{BB962C8B-B14F-4D97-AF65-F5344CB8AC3E}">
        <p14:creationId xmlns:p14="http://schemas.microsoft.com/office/powerpoint/2010/main" val="551014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220F8E-26B7-46B6-AF30-6987EAE1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B3CCD-E9EC-4C4E-AEDF-842341D8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F4456-BF13-403F-9B91-7981A299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C3B3C-6AAF-4A7E-8E99-2185BE6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C7C8F-47B7-40BC-B131-FA16926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58B51-CB01-477B-83E1-BCE42C88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81BF0-3AC9-4E6E-89AF-008DFC6B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66927-57E2-44A6-B41F-B10CAA90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研究背景：同一文档被重复计算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76469-B7F4-4433-82E3-7CE4AA2E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场景：离线工控机反复查询同一份设备手册，问题不同，公共前缀相同。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603A2-2F5D-401C-9B5C-7E9D7AC2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5F910-720E-450C-A6C7-AC9E7F7C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依据：SGLang论文[4]；HiCache官方设计[5]。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5FE6B-BFF3-4119-8D60-29F60B1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1475E-907C-45FB-83A5-88C876B5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58578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70101-30A5-4D93-9301-67903100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固定输入模板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6D566-9C74-412D-B682-F3C65485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23622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A949F-AB10-4791-80A2-EAA6654D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2171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系统提示词＋设备手册</a:t>
            </a:r>
          </a:p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＋固定分隔符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ED0E1-9EAB-427A-9915-EA75F16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62175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FCFF8-C915-4A73-B884-F2B14F99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19325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问题A</a:t>
            </a:r>
          </a:p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故障码E17如何处理？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FE7F4-3CD9-49D5-BF7C-9B8A12A3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F94B2-BBBC-4AB2-87E5-465DE2B0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问题B</a:t>
            </a:r>
          </a:p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处理后检查哪些传感器？</a:t>
            </a:r>
          </a:p>
        </p:txBody>
      </p: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143250" y="2524125"/>
            <a:ext cx="647700" cy="37623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43250" y="2900363"/>
            <a:ext cx="647700" cy="58578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95E75-C0A7-4F74-B64D-064D6434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5410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公共前缀的KV仅需计算一次，问题部分各自继续Prefill。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A79AAF-CF9A-4804-A1E7-E64A5041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5450"/>
            <a:ext cx="5019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D5E18-E75E-442C-B97B-988F0D6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09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端侧与云侧的关键差别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B8C2A-1B37-4B1C-BD88-0B3EE80C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3362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无独立GPU：模型权重与活动KV共用RAM。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DDCDD-A4BE-45FF-BD19-166E47B6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8132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历史KV在SSD：命中后仍需读取和恢复。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A1422-9E50-45FA-88E7-FC466EBC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2902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共享CPU与内存带宽：读取可能慢于重算。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6D9EBA-4631-4D07-8C6C-69426B14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111252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F0A5E4-61A2-40C3-A5DD-D06126F7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23FF60-A843-40D3-941A-35F897EE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1060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给定相同token前缀，系统应当直接复用RAM、从SSD加载，还是重新计算？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226020-5985-4FC4-9E62-02760013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60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评价目标：前台请求的首token时间（TTFT），并检查正确性、峰值内存与后台I/O干扰。</a:t>
            </a:r>
          </a:p>
        </p:txBody>
      </p:sp>
    </p:spTree>
    <p:extLst>
      <p:ext uri="{BB962C8B-B14F-4D97-AF65-F5344CB8AC3E}">
        <p14:creationId xmlns:p14="http://schemas.microsoft.com/office/powerpoint/2010/main" val="923591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2CD044-2FAA-4282-A10A-D1125CAF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DED11-85B7-4CE1-A2EE-47E77003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B05D7-3B46-4204-AA13-17F664A8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C94ED-53AD-40F6-BEAD-44AADEE5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7F993-3CD7-4D2B-A0B7-1A5308B8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168F1-F6B0-44AE-85B1-1F2B6EE4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0D8A-DBBB-472C-9775-27127F7C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10E23-FB63-4669-9350-68C9D337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研究内容：CPU-only前缀KV复用与读算选择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C2A42-DC83-48B5-9470-0C985677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先限定单设备、同模型、完全相同的token前缀；手机与跨设备是后续验证对象。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C32B3-E6FB-424E-BC40-8F13DAF2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F6CC4-99B5-42AC-80B0-66ACA5A6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依据：HiCache官方设计[5]；本课题端侧适配分析。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53211-6434-4D6A-B622-E2E275B5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3/7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BB75E-62D5-4F8C-9B2E-7EFB34EF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859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候选数据路径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A50C7-2375-4EA9-82A4-72EEBA9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62200"/>
            <a:ext cx="1295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E4492-1B5C-4BB6-A8E0-D0AB4D9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110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再次提问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4536B-0625-4D97-A8C1-FE87B5F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1971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B0AB8-323B-407B-883B-BC788B6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86000"/>
            <a:ext cx="1781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Radix前缀索引</a:t>
            </a:r>
          </a:p>
          <a:p xmlns:a="http://schemas.openxmlformats.org/drawingml/2006/main">
            <a:pPr algn="ctr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查位置与状态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2902D-A0A8-45CA-BEFE-8889FD7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28850"/>
            <a:ext cx="198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CB862-AC11-40C1-8EA0-470900D9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179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CPU推理</a:t>
            </a:r>
          </a:p>
          <a:p xmlns:a="http://schemas.openxmlformats.org/drawingml/2006/main">
            <a:pPr algn="ctr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复用或重算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3760A-7C4D-426B-8772-A9BA8FCF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45A44-51F4-41B2-83F5-1B8F1455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193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回答</a:t>
            </a:r>
          </a:p>
        </p:txBody>
      </p:sp>
      <p:cxnSp>
        <p:nvCxnSpPr>
          <p:cNvPr id="56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857375" y="27051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429125" y="2705100"/>
            <a:ext cx="24479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858250" y="27051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75DC4-813E-48BC-8F04-98A1A1BE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24300"/>
            <a:ext cx="24098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58A963-AEE7-43C9-B549-AE73E680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981450"/>
            <a:ext cx="22193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SSD：历史前缀KV</a:t>
            </a:r>
          </a:p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仅保存值得复用的状态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7464B-F660-40D8-B0BF-FD4CEB20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2430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3C0973-2123-4088-8D75-86D3F2B5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RAM：活动KV</a:t>
            </a:r>
          </a:p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权重与当前请求也占空间</a:t>
            </a:r>
          </a:p>
        </p:txBody>
      </p:sp>
      <p:cxnSp>
        <p:nvCxnSpPr>
          <p:cNvPr id="63" name=""/>
          <p:cNvCxnSpPr>
            <a:stCxn xmlns:a="http://schemas.openxmlformats.org/drawingml/2006/main" id="1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443288" y="3181350"/>
            <a:ext cx="209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857750" y="440055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7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7867650" y="3181350"/>
            <a:ext cx="571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C56D6-F8C9-4A2B-9336-C0E8E956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RAM命中：直接复用　　SSD命中：比较恢复与重算　　未命中：重算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96AEB-1978-49BF-8F71-F7D0E975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24525"/>
            <a:ext cx="1108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5151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30BBDA-6D6F-48BF-B98A-B385B174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839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研究范围：精确KV复用与请求间前缀缓存；暂不把权重卸载、KV压缩或P/D交接混为同一问题。</a:t>
            </a:r>
          </a:p>
        </p:txBody>
      </p:sp>
    </p:spTree>
    <p:extLst>
      <p:ext uri="{BB962C8B-B14F-4D97-AF65-F5344CB8AC3E}">
        <p14:creationId xmlns:p14="http://schemas.microsoft.com/office/powerpoint/2010/main" val="54396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F21318-ACAB-4097-8985-49DE10F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1A4EF-6383-4BB6-8920-FD34708C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20A90-8348-45AD-815E-E9105B44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95B0E-4618-4872-8914-926E6940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D9A2D-7687-4A74-8F76-021C454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DFD04-6A4E-4365-9EC3-8907856F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35D22-04D9-420A-A948-B57D9509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3C20A-E9F4-4ADE-A256-46CF0B69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技术路线：正确性、读算边界、调度对照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4901D-A43C-4A14-AFFD-BAE3AB64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每一步都有可否定条件；上一阶段不成立，就调整方向，不直接叠加复杂策略。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BBD9C-AB9B-451E-A4D4-84EC4E63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38CAA-FDB0-4173-B738-7CB999CF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依据：HiCache预取策略[5][6]；IMPRESS[11]；本课题实验方案。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4B0EC-4CDF-4C41-AC25-DC4C0CAB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F5A8A-9BD0-4082-98C3-AB5E0827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859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25769-1F5C-42EA-8421-E7B17FC7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阶段1：状态正确性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KV导出→恢复→继续推理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28D4F-E61B-43A4-95AE-2228A37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859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13831-797A-4D5F-AA1F-E24E736F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430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阶段2：读算临界点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实测SSD恢复与CPU重算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CCDC8-F915-4424-BFC4-CE7F62A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859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D0861-3CE9-4D2B-95A7-8739F47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430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阶段3：调度对照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预取等待与后台写入预算</a:t>
            </a:r>
          </a:p>
        </p:txBody>
      </p:sp>
      <p:cxnSp>
        <p:nvCxnSpPr>
          <p:cNvPr id="72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57625" y="21621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62875" y="21621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DFD31-49C4-41E1-A468-29274D4E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3912A-1916-47EF-8C6D-7D46EDD7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5752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实验环节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A58BF-D368-4CD5-BCF1-9850F7F5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9900"/>
            <a:ext cx="37052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50871-9B35-4564-A9B0-DA3236A3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57525"/>
            <a:ext cx="3552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操纵变量与对照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B595F-7333-4970-B998-DB6CA77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099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C05E51-25CF-481C-BE9B-C5643A25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57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记录指标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6CD90-D1F9-4369-921F-ABD2B21A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099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D2C78-16AE-4C37-9FF9-C3186D6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575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通过条件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C8EA00-88C8-44C8-A804-75D022B6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67100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131810-695B-4EBC-BBC4-677BAD23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3300"/>
            <a:ext cx="204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恢复正确性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5FC607-0F38-4232-BEB8-5FCAB718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7100"/>
            <a:ext cx="3705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0467F6-14DF-4DA4-A1B9-44BFF90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35147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同输入：保存恢复 vs 完全重算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FBD27-8F4E-4B0E-B724-68B40237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671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B6CC8-1A22-4EB3-8143-210086F9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43300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logits差异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C06658-67D7-41B5-A5B1-CFE817F8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671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AC6064-8EE5-492E-8DAE-171AA120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43300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状态兼容且输出可继续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93858D-9986-4D7F-B6FF-9C51BE0E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0050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EAB6B3-40B5-4D46-9FFB-FFEDB50D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204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读算边界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B71E77-117C-4036-8898-A4065267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0050"/>
            <a:ext cx="3705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B08A12-4229-4670-B54D-397BF98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35147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前缀长度、RAM预算、SSD负载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F28DB2-44D7-4408-9D62-29F8B6EA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1005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094D06-DED8-426E-BE85-3329F8D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86250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TTFT、读取字节、峰值RAM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AAF850-E5C5-4BE2-B500-C1ECC1AC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100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A81B23-B793-48F0-88F7-3EEEE0D4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86250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至少存在可重复的获益区间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EFE34A-6FE9-4B1D-A80B-B417035B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EFCE5D-7B2C-468F-A293-FD987576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204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策略比较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91AA96-70C5-43DE-A025-58B357ED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3705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AAE469-0FB4-4006-869E-BADCC50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35147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重算／固定等待／有限等待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54C611-52C3-4911-B3F0-513256AD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9530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0560FE-56AF-4A02-A271-E5ADAC17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29200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P50/P95 TTFT、I/O干扰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15A002-2F82-4B01-81DF-35441B56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530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EE7490-3A1E-4438-BC72-2A2B307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29200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优于合适的固定基线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F16B6D-85F7-43F7-95B7-B1C13A87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84835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若冷恢复始终慢于重算，则停止冷加载调度优化，转向RAM内复用或写入筛选。</a:t>
            </a:r>
          </a:p>
        </p:txBody>
      </p:sp>
    </p:spTree>
    <p:extLst>
      <p:ext uri="{BB962C8B-B14F-4D97-AF65-F5344CB8AC3E}">
        <p14:creationId xmlns:p14="http://schemas.microsoft.com/office/powerpoint/2010/main" val="1849025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A842CB-957E-4E8A-B819-671F59A1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36F76-DE96-4643-8125-70B57DCC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3D696-F3A0-4549-8760-9FFFF35A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81097-706F-4E8C-93BC-FA13F81A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A4959-3A3E-438A-8637-1740410E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C1FFA-8A0D-4332-89B8-D1004175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6CD1A-16BA-45BC-9FE7-5F84CD2F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9BB61-0309-4759-A97C-486A91EE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研究基础：机制梳理完成，实验尚未开始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D14B2-C38C-4CA6-AA5F-9ABC7D77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已经有可复查的文献与架构分析，下一步先核查推理后端的KV导出和恢复接口。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3C148-187C-4CB6-815A-E2F54D2E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0E131-FEC9-4482-B798-4EA21598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依据：本地调研报告（2026-10-03）；SGLang[4-6]；IMPRESS[11]；Strata[10]。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D4351-8AE1-4884-BE38-8B1FE78C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6B675-E843-43D4-8C80-08391294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5248275" cy="406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8FE22-C5C0-448D-8874-CCD4981C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192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1D7C8-2FEA-4105-9CC3-51501A47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参考资料：核对28项，含25篇论文与3项官方资料。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AEA42-2E01-4384-A1B5-674D2CCA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架构机制：梳理RadixAttention、三级缓存、预取等待与写出约束。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41938-EC86-4B3D-A6B3-38D4B6BE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476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端侧路径：画出RAM复用、SSD恢复和重新计算的选择关系。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ADFE2-8B49-46AD-AD71-18024077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4810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96FE7-9802-4E09-80B9-B7E70B57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5300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尚未完成：后端适配、KV恢复正确性验证和性能实测。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048E0-AF0A-4109-AD3F-8DA84C0F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5591175" cy="406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B2F5A-E475-4BC7-A3AC-B2FB33BD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19275"/>
            <a:ext cx="494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相关研究给出的边界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6A414-B338-49F9-848B-A0094017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4315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75854-F07B-49B3-B55D-41CCBBD1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43150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4DBD7-1204-4E69-B9BF-76D613C7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SGLang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2E575-6B9B-4E78-8599-5BA62812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前缀树管理同token前缀的复用[4]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A29F5-83F9-4FAD-A367-D14CEF8F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5752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D7338-0556-4272-9202-6AFAA160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D44543-C78D-4A51-A0A2-06CE120B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HiCache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B95F5-2BA4-4D6A-B10C-61114422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把KV延伸到主存与外部存储[5]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1AEE8B-03A1-47E1-9D69-84A4E4DE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7190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1B5FB-870C-4596-87A7-113694A6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71900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84847-D0C7-4A06-95BB-14BE42A8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57625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IMPRESS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6F1C9-34D0-48D1-866E-004B66FD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5762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指出磁盘KV也可能不划算[11]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1ACEB0-8D4E-4974-A1BE-D13C1F0F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86275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E7FE0F-29D8-4C3F-8A6D-25E47C17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86275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9D2EA-9090-4BB0-81DC-9B5B7D66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Strata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28C553-077D-4921-8DAA-8D32E09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720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强调加载与调度应联合考虑[10]</a:t>
            </a:r>
          </a:p>
        </p:txBody>
      </p:sp>
    </p:spTree>
    <p:extLst>
      <p:ext uri="{BB962C8B-B14F-4D97-AF65-F5344CB8AC3E}">
        <p14:creationId xmlns:p14="http://schemas.microsoft.com/office/powerpoint/2010/main" val="125336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4AF5FB-D991-4FDE-BC7F-8DA59575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2B2A4-5738-42EC-8780-D49ADFB7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6B7CF-F59D-4B71-983F-0D3E3435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F2279-DA03-4664-ADEA-CF2C0ED1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166C0-45D6-41E0-8B99-12F16448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FB11F-5D2E-4A63-81DB-E95501EB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1D0EF-310F-446C-9F7B-7C5F1F5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B9938-6B3D-407D-9843-4262AC69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预期成果：给出可验证的端侧缓存收益边界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E2991-6BBE-4325-ABEF-734EC982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目标不是预设HiCache一定适合端侧，而是说明哪些条件下复用真正缩短请求时间。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CFE9F-D9A0-423B-9E7E-A02A253F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BD90F-9131-4F13-85FD-CA746221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依据：本课题待验证方案；HiCache官方文档[5][6]。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8BBEE-E615-4D71-BFE5-9290FFE7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FAEA6-6F9C-4FA6-B672-AAE97883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4861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738F3-AE5E-49DE-9ED0-C27DAF25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48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7C9AB-76FC-40AE-8D69-3BE5E86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383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成果1：可运行原型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1E4A0-8BA6-432C-AF98-2F218C33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同模型、同token前缀的KV保存、恢复与继续推理；通过logits对照验证正确性。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96A37-A5AB-47D2-BFF7-616A31B5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4861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C4C5A-AA86-4D06-B94F-83E46DD2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48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F6D94-5672-4A4A-B255-FAD8CF6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383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成果2：读算边界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87405-E3BF-4301-9FB9-BF8CCEE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47925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分档测量前缀长度、SSD负载和内存预算下的冷恢复与重算耗时。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D874C-A340-4264-9DFA-CF34C625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4861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9A5317-55DB-408C-84D1-BB4BA846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48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39D3D-8685-4FDD-952C-73D36BBC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383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成果3：调度比较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FE209-F1DF-4ED1-9073-ECC02FD8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47925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与直接重算、尽力复用、等待完成和限时等待进行公平对照。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9233D-7692-4D4E-876D-D0535CBB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14825"/>
            <a:ext cx="111442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598B6-AA07-4768-B5C4-5FF698E9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结果判据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1DD365-1C77-42A3-B323-AC5C11B7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48225"/>
            <a:ext cx="10458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冷恢复更快：进一步验证有限等待、预取和写入预算是否改善TTFT。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3DD3BD-A024-46FB-A25E-BA005D0C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4475"/>
            <a:ext cx="10458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冷恢复更慢：转向RAM内复用、在途加载合并或只保存高价值前缀。</a:t>
            </a:r>
          </a:p>
        </p:txBody>
      </p:sp>
    </p:spTree>
    <p:extLst>
      <p:ext uri="{BB962C8B-B14F-4D97-AF65-F5344CB8AC3E}">
        <p14:creationId xmlns:p14="http://schemas.microsoft.com/office/powerpoint/2010/main" val="12157911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5F7C4-C1A1-4EFC-B422-EDE5327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7C391-ACD0-4C78-A47C-AC847DA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050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请老师批评指正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7F424-AD6E-4324-9EC2-DCABD243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希望讨论：目标设备、精确KV复用范围、跨设备共享是否作为后续扩展</a:t>
            </a:r>
          </a:p>
        </p:txBody>
      </p:sp>
    </p:spTree>
    <p:extLst>
      <p:ext uri="{BB962C8B-B14F-4D97-AF65-F5344CB8AC3E}">
        <p14:creationId xmlns:p14="http://schemas.microsoft.com/office/powerpoint/2010/main" val="261915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2026-10-05T04:09:08.3830000Z</dcterms:created>
  <dcterms:modified xsi:type="dcterms:W3CDTF">2026-10-05T04:09:08.3830000Z</dcterms:modified>
</coreProperties>
</file>